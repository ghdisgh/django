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58" r:id="rId6"/>
    <p:sldId id="260" r:id="rId7"/>
    <p:sldId id="278" r:id="rId8"/>
    <p:sldId id="268" r:id="rId9"/>
    <p:sldId id="277" r:id="rId10"/>
    <p:sldId id="281" r:id="rId11"/>
    <p:sldId id="283" r:id="rId12"/>
    <p:sldId id="263" r:id="rId13"/>
    <p:sldId id="276" r:id="rId14"/>
    <p:sldId id="269" r:id="rId15"/>
    <p:sldId id="270" r:id="rId16"/>
    <p:sldId id="292" r:id="rId17"/>
    <p:sldId id="285" r:id="rId18"/>
    <p:sldId id="286" r:id="rId19"/>
    <p:sldId id="287" r:id="rId20"/>
    <p:sldId id="293" r:id="rId21"/>
    <p:sldId id="291" r:id="rId22"/>
    <p:sldId id="290" r:id="rId23"/>
    <p:sldId id="284" r:id="rId24"/>
    <p:sldId id="294" r:id="rId25"/>
    <p:sldId id="261" r:id="rId26"/>
  </p:sldIdLst>
  <p:sldSz cx="12192000" cy="6858000"/>
  <p:notesSz cx="6858000" cy="9144000"/>
  <p:embeddedFontLst>
    <p:embeddedFont>
      <p:font typeface="DX영화자막 M" panose="02020600000000000000" pitchFamily="18" charset="-127"/>
      <p:regular r:id="rId27"/>
    </p:embeddedFont>
    <p:embeddedFont>
      <p:font typeface="나눔바른고딕" panose="020B0603020101020101" pitchFamily="50" charset="-127"/>
      <p:regular r:id="rId28"/>
    </p:embeddedFont>
    <p:embeddedFont>
      <p:font typeface="나눔스퀘어_ac" panose="020B0600000101010101" pitchFamily="50" charset="-127"/>
      <p:regular r:id="rId29"/>
    </p:embeddedFont>
    <p:embeddedFont>
      <p:font typeface="나눔스퀘어_ac Bold" panose="020B0600000101010101" pitchFamily="50" charset="-127"/>
      <p:bold r:id="rId30"/>
    </p:embeddedFont>
    <p:embeddedFont>
      <p:font typeface="나눔스퀘어_ac ExtraBold" panose="020B0600000101010101" pitchFamily="50" charset="-127"/>
      <p:bold r:id="rId31"/>
    </p:embeddedFont>
    <p:embeddedFont>
      <p:font typeface="맑은 고딕" panose="020B0503020000020004" pitchFamily="50" charset="-127"/>
      <p:regular r:id="rId32"/>
      <p:bold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안지혜" initials="안" lastIdx="1" clrIdx="0">
    <p:extLst>
      <p:ext uri="{19B8F6BF-5375-455C-9EA6-DF929625EA0E}">
        <p15:presenceInfo xmlns:p15="http://schemas.microsoft.com/office/powerpoint/2012/main" userId="안지혜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923"/>
    <a:srgbClr val="CF7A63"/>
    <a:srgbClr val="996600"/>
    <a:srgbClr val="E7A44B"/>
    <a:srgbClr val="DDB74B"/>
    <a:srgbClr val="663300"/>
    <a:srgbClr val="EE7B68"/>
    <a:srgbClr val="EC9F52"/>
    <a:srgbClr val="FFCC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-192" y="-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6-09T15:24:11.714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37025-E04B-4EA7-BA01-C644F9D99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E0E013-F4C8-4F0B-A9F0-7D873AFA9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7D629-B92D-40D4-ACE1-CA2CDE3A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2D923-EA60-4725-AE88-CB3951216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778517-8116-40BE-B465-81E882CE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60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6FA76-A12E-4A8A-B94F-57ABEC9D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EFACF-304D-4D5C-80D0-7B6E3F651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9E22B-1A18-4B9A-8BE4-31B675C8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C170C-96D9-4E28-A8AB-D4AE5410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972D4E-DEEB-4444-9895-2BF78216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59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2EF44-81AD-4D9F-9B69-3D39606B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223F1-D48F-4410-98CE-64205811B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3B67B-A096-4F6B-BE09-9F0279CA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074C9-9EEA-4556-9AB2-A2B6A9A86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2AE034-5951-4517-A1BE-F2C047A7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627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EF770-35F2-4026-A656-7839BD6A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2AAADC-2464-41F9-9DB4-28D80B473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B7FCBF-495E-41ED-BAFE-2B233A07A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F0EFF0-4FF5-4E94-92DF-C66A2AC55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DF15AF-E8B9-4BBD-B07F-60F8B47A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0AFC50-CEAD-49E7-B790-C19B3F25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805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7F79A-315F-4EC1-9640-8E136C772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C71340-6790-44C9-B837-6E1D7F9BB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3E7EA7-9D58-4AC9-A75D-BB523C3B9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7CD4DC-1B5F-4598-9BA9-37F85FDAC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A734FD-3243-457A-AA52-D9468CAAA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9E0BC62-736C-49B3-8D66-8A7F03D9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8EF7B3-86CA-48C1-8AE2-E723EE9C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139427-4EFC-4D1C-8705-94A9726B4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663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C3B82-1361-40D4-B691-633CA797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EC94DD-DF3A-4B51-B37E-DFDC417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2FEB11-308F-46F8-A32C-AA5BCFDA4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A15A3B-0A48-4923-B766-8CF01582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60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C08D45-F10B-460C-AE22-982A6E80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C2EF0A-57A2-482F-A628-63CADCC8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38BDB8-39B4-4D93-BA73-31FC13A9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06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C64AA-B7FB-4145-8AFF-C3E7B981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C7B4F4-4588-4108-A9A2-E710F5CD5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9A35D7-8626-45CF-B1C0-F58B102D9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E5B595-01EC-45BF-B136-FD148AB0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41CC9F-5CE5-4C4E-BD27-72EA9A946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1D994E-921C-45C4-8B44-D4F15810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31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CF4E6-F7A2-4265-B24F-967DB292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895EFE-B89A-43C0-8669-44252BE02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C862BE-8478-4195-BF8B-89A9DE778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446607-A392-4CC4-AAE4-B626286E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B59B75-2944-4572-9D14-ED7ED1D1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8E091-3E28-43CB-BE9C-717744C2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2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CD5BF-6C0E-4DD7-A39F-005AFAD2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A88C34-EA0A-46A9-B9F1-46B9AEA6F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2312E-7896-4A69-BC92-983A35BB7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97A44-9D0B-4F16-9E5D-031A4EE8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33ADF-38D3-445E-9754-6BB3E351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30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4CC8C0-8D45-4A1E-8305-15FCA556A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77B863-3EE5-4910-8B2E-8A1D7A08C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018F4-669E-41BB-8F97-882C7A58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DCD30-9EF8-4D41-B7EC-58781C61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E10F73-432C-4FA4-B72B-A90C4C8B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3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E25FC3-2FD8-4F81-8B11-8BB5BA42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CF85B-E6A0-4483-B748-3F9F84D99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22ED81-264C-4319-A34C-733B1BE38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6F553-5EC6-4584-BEC1-539E58B671B2}" type="datetimeFigureOut">
              <a:rPr lang="ko-KR" altLang="en-US" smtClean="0"/>
              <a:t>2019-06-09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9D1510-40EF-4630-BF8E-C5782A7C7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CE475F-6F01-4E1F-A95E-372F3E680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D8C5B-FC52-46F8-AE78-ABBF561E1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4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venapp.io/view/pPtJxhWmROB0PVoNv2pq3DYX2RHxd9hR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3622E98-4DA7-4AA5-8380-17EE8329A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415" y="847725"/>
            <a:ext cx="3283170" cy="32831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4415A8-C569-418B-9D97-E2A77009CCB9}"/>
              </a:ext>
            </a:extLst>
          </p:cNvPr>
          <p:cNvSpPr txBox="1"/>
          <p:nvPr/>
        </p:nvSpPr>
        <p:spPr>
          <a:xfrm>
            <a:off x="3600450" y="4743450"/>
            <a:ext cx="49911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spc="3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모도리팀</a:t>
            </a:r>
            <a:r>
              <a:rPr lang="ko-KR" altLang="en-US" sz="3500" spc="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3500" spc="3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블로그앱</a:t>
            </a:r>
            <a:r>
              <a:rPr lang="ko-KR" altLang="en-US" sz="3500" spc="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CD271-E92D-4BDE-98BD-99C457E6D528}"/>
              </a:ext>
            </a:extLst>
          </p:cNvPr>
          <p:cNvSpPr txBox="1"/>
          <p:nvPr/>
        </p:nvSpPr>
        <p:spPr>
          <a:xfrm>
            <a:off x="9305925" y="5328225"/>
            <a:ext cx="2305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216230050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안지혜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216230053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이연주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217230078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박우진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92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796A8C-7835-472B-9C63-5053290C1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722382-E16B-4605-98E1-67ABB8939523}"/>
              </a:ext>
            </a:extLst>
          </p:cNvPr>
          <p:cNvSpPr txBox="1"/>
          <p:nvPr/>
        </p:nvSpPr>
        <p:spPr>
          <a:xfrm>
            <a:off x="1145219" y="405413"/>
            <a:ext cx="2636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목차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4997B2A-810D-410A-BB59-7FCCCA42187C}"/>
              </a:ext>
            </a:extLst>
          </p:cNvPr>
          <p:cNvGrpSpPr/>
          <p:nvPr/>
        </p:nvGrpSpPr>
        <p:grpSpPr>
          <a:xfrm>
            <a:off x="1145219" y="1174397"/>
            <a:ext cx="4565287" cy="1017451"/>
            <a:chOff x="2210337" y="2088128"/>
            <a:chExt cx="4565287" cy="1017451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40CDBDA-48DB-4AC9-8FFF-5868496CADE1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CF4CE36-E724-4C17-983C-34A44EFBD3B8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프로젝트 소개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8874A40-8532-4C21-912D-DC5DE3DEC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9578178-6A73-4C96-A0CA-09E0496ECF3D}"/>
              </a:ext>
            </a:extLst>
          </p:cNvPr>
          <p:cNvGrpSpPr/>
          <p:nvPr/>
        </p:nvGrpSpPr>
        <p:grpSpPr>
          <a:xfrm>
            <a:off x="1145219" y="2406437"/>
            <a:ext cx="4565287" cy="1017451"/>
            <a:chOff x="2210337" y="2088128"/>
            <a:chExt cx="4565287" cy="1017451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0977788-9283-4968-B807-C9C64E7974E5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8BB8806-0A3A-4343-8BDB-2E8C610CD4CF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요구사항 명세서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11282C71-104C-4695-B0F3-452B56586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BD7B945-AFE2-4CC3-A1E0-2DD99E7C187B}"/>
              </a:ext>
            </a:extLst>
          </p:cNvPr>
          <p:cNvGrpSpPr/>
          <p:nvPr/>
        </p:nvGrpSpPr>
        <p:grpSpPr>
          <a:xfrm>
            <a:off x="1145219" y="3582471"/>
            <a:ext cx="4565287" cy="1017451"/>
            <a:chOff x="2210337" y="2088128"/>
            <a:chExt cx="4565287" cy="1017451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E88ED18-2304-4EFF-AFF9-589FE05DA482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6D45A374-47D7-444F-BE61-43B3D54E89A7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메뉴구조도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E91123BE-DEF7-4012-B50F-A8672CBA8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E196C13-D42A-45F6-8FA0-33ADF2B867EB}"/>
              </a:ext>
            </a:extLst>
          </p:cNvPr>
          <p:cNvGrpSpPr/>
          <p:nvPr/>
        </p:nvGrpSpPr>
        <p:grpSpPr>
          <a:xfrm>
            <a:off x="1145219" y="4758505"/>
            <a:ext cx="4565287" cy="1017451"/>
            <a:chOff x="2210337" y="2088128"/>
            <a:chExt cx="4565287" cy="1017451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9D75B8-4CC9-428A-B5CB-949801D80A47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86C4229-D803-4AC6-8944-D333EF5DF570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ERD, </a:t>
              </a:r>
              <a:r>
                <a:rPr lang="ko-KR" altLang="en-US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테이블 명세서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94C3315A-7C99-4684-93A0-3A3D61110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56A5663-0338-4BD1-9E05-B00141EB203F}"/>
              </a:ext>
            </a:extLst>
          </p:cNvPr>
          <p:cNvGrpSpPr/>
          <p:nvPr/>
        </p:nvGrpSpPr>
        <p:grpSpPr>
          <a:xfrm>
            <a:off x="6783149" y="665671"/>
            <a:ext cx="4565287" cy="1017451"/>
            <a:chOff x="2210337" y="2088128"/>
            <a:chExt cx="4565287" cy="1017451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8E60111-4C4E-4C3F-8ADE-4333776235E2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CD8A5A5C-CB12-4840-8D2B-05C8F5A0643B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URL</a:t>
              </a:r>
              <a:r>
                <a:rPr lang="ko-KR" altLang="en-US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 명세서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06E1CF7D-63DB-428F-9946-242323FA5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F04BF19-7289-490A-ADE8-5F758DA2DEE2}"/>
              </a:ext>
            </a:extLst>
          </p:cNvPr>
          <p:cNvGrpSpPr/>
          <p:nvPr/>
        </p:nvGrpSpPr>
        <p:grpSpPr>
          <a:xfrm>
            <a:off x="6783149" y="1897711"/>
            <a:ext cx="4565287" cy="1017451"/>
            <a:chOff x="2210337" y="2088128"/>
            <a:chExt cx="4565287" cy="1017451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431FB42-01FD-44D4-9128-567EC2CC3E2A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A5668A30-C6FA-4FA8-A09A-80C66D1F198A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600" dirty="0" err="1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아키텍쳐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3DA29164-5699-4EEA-B7AE-98FE72EC0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7DCE259-7AAE-450D-A446-C08EABCF1B03}"/>
              </a:ext>
            </a:extLst>
          </p:cNvPr>
          <p:cNvGrpSpPr/>
          <p:nvPr/>
        </p:nvGrpSpPr>
        <p:grpSpPr>
          <a:xfrm>
            <a:off x="6783149" y="3129751"/>
            <a:ext cx="4565287" cy="1017451"/>
            <a:chOff x="2210337" y="2088128"/>
            <a:chExt cx="4565287" cy="1017451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9B20C2DC-6694-4303-972C-AC7E8762436E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3512632-222C-4108-9300-4CB203E3F47D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화면설계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CB312D54-3FB0-4876-B351-C554F5D96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EEAEC6F-35B6-413E-BC4D-D9186C0B6B99}"/>
              </a:ext>
            </a:extLst>
          </p:cNvPr>
          <p:cNvGrpSpPr/>
          <p:nvPr/>
        </p:nvGrpSpPr>
        <p:grpSpPr>
          <a:xfrm>
            <a:off x="6783149" y="4305785"/>
            <a:ext cx="4565287" cy="1017451"/>
            <a:chOff x="2210337" y="2088128"/>
            <a:chExt cx="4565287" cy="1017451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8C93AF4E-8C4C-4CE0-89F8-E00DA0C71F6E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DA5ABC9C-FF0D-4FC9-A2E0-C6C2AA9B4F27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코드 및 실제 화면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E231EF34-BF66-44F6-98BF-068E497FA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C96A8C5-5217-46F0-88A3-10B76843814B}"/>
              </a:ext>
            </a:extLst>
          </p:cNvPr>
          <p:cNvGrpSpPr/>
          <p:nvPr/>
        </p:nvGrpSpPr>
        <p:grpSpPr>
          <a:xfrm>
            <a:off x="6783149" y="5379249"/>
            <a:ext cx="4565287" cy="1017451"/>
            <a:chOff x="2210337" y="2088128"/>
            <a:chExt cx="4565287" cy="1017451"/>
          </a:xfrm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2BAB5B4-6509-4F13-AD1A-B371091EB1C0}"/>
                </a:ext>
              </a:extLst>
            </p:cNvPr>
            <p:cNvSpPr/>
            <p:nvPr/>
          </p:nvSpPr>
          <p:spPr>
            <a:xfrm>
              <a:off x="2210337" y="2088128"/>
              <a:ext cx="1035430" cy="1017451"/>
            </a:xfrm>
            <a:prstGeom prst="ellipse">
              <a:avLst/>
            </a:prstGeom>
            <a:solidFill>
              <a:srgbClr val="CF7A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B44198E5-742F-4D01-BDF1-C59A421D1851}"/>
                </a:ext>
              </a:extLst>
            </p:cNvPr>
            <p:cNvSpPr/>
            <p:nvPr/>
          </p:nvSpPr>
          <p:spPr>
            <a:xfrm>
              <a:off x="3120778" y="2246711"/>
              <a:ext cx="3654846" cy="700292"/>
            </a:xfrm>
            <a:prstGeom prst="roundRect">
              <a:avLst/>
            </a:prstGeom>
            <a:solidFill>
              <a:srgbClr val="EC9F52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600" dirty="0">
                  <a:solidFill>
                    <a:schemeClr val="bg1"/>
                  </a:solidFill>
                  <a:latin typeface="DX영화자막 M" panose="02020600000000000000" pitchFamily="18" charset="-127"/>
                  <a:ea typeface="DX영화자막 M" panose="02020600000000000000" pitchFamily="18" charset="-127"/>
                </a:rPr>
                <a:t>추후예정</a:t>
              </a:r>
              <a:endParaRPr lang="en-US" altLang="ko-KR" sz="2600" dirty="0">
                <a:solidFill>
                  <a:schemeClr val="bg1"/>
                </a:solidFill>
                <a:latin typeface="DX영화자막 M" panose="02020600000000000000" pitchFamily="18" charset="-127"/>
                <a:ea typeface="DX영화자막 M" panose="02020600000000000000" pitchFamily="18" charset="-127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821BD60D-DD97-4E69-9007-3471D58D7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16" y="2302717"/>
              <a:ext cx="588271" cy="5882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27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57BC7A-C4CD-4F01-A75D-7BCAB77BF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971AC3E-23BC-479B-AC9C-2804436639C8}"/>
              </a:ext>
            </a:extLst>
          </p:cNvPr>
          <p:cNvSpPr/>
          <p:nvPr/>
        </p:nvSpPr>
        <p:spPr>
          <a:xfrm>
            <a:off x="8410574" y="-9525"/>
            <a:ext cx="3781425" cy="6858000"/>
          </a:xfrm>
          <a:prstGeom prst="rect">
            <a:avLst/>
          </a:prstGeom>
          <a:solidFill>
            <a:srgbClr val="FFCC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985A0F-999C-4EB6-8B98-34DAB3CE0405}"/>
              </a:ext>
            </a:extLst>
          </p:cNvPr>
          <p:cNvSpPr/>
          <p:nvPr/>
        </p:nvSpPr>
        <p:spPr>
          <a:xfrm>
            <a:off x="-1" y="4391025"/>
            <a:ext cx="12192000" cy="2476500"/>
          </a:xfrm>
          <a:prstGeom prst="rect">
            <a:avLst/>
          </a:prstGeom>
          <a:solidFill>
            <a:srgbClr val="FF993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0D063D-B36D-4159-8E3F-F26EFDC66C4E}"/>
              </a:ext>
            </a:extLst>
          </p:cNvPr>
          <p:cNvSpPr txBox="1"/>
          <p:nvPr/>
        </p:nvSpPr>
        <p:spPr>
          <a:xfrm>
            <a:off x="8720136" y="5329743"/>
            <a:ext cx="3162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RECIPE</a:t>
            </a:r>
            <a:endParaRPr lang="ko-KR" altLang="en-US" sz="6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BB255-AF2F-4595-B30C-17282228A070}"/>
              </a:ext>
            </a:extLst>
          </p:cNvPr>
          <p:cNvSpPr txBox="1"/>
          <p:nvPr/>
        </p:nvSpPr>
        <p:spPr>
          <a:xfrm>
            <a:off x="8720136" y="1015905"/>
            <a:ext cx="752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solidFill>
                  <a:srgbClr val="663300"/>
                </a:solidFill>
              </a:rPr>
              <a:t>R</a:t>
            </a:r>
            <a:endParaRPr lang="ko-KR" altLang="en-US" sz="6000" dirty="0">
              <a:solidFill>
                <a:srgbClr val="66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C2ADB2-7A7F-484C-9D5A-4E1D4011B986}"/>
              </a:ext>
            </a:extLst>
          </p:cNvPr>
          <p:cNvSpPr txBox="1"/>
          <p:nvPr/>
        </p:nvSpPr>
        <p:spPr>
          <a:xfrm>
            <a:off x="9458327" y="465211"/>
            <a:ext cx="752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solidFill>
                  <a:srgbClr val="663300"/>
                </a:solidFill>
              </a:rPr>
              <a:t>E</a:t>
            </a:r>
            <a:endParaRPr lang="ko-KR" altLang="en-US" sz="6000" dirty="0">
              <a:solidFill>
                <a:srgbClr val="6633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00AD6-3ECE-45ED-A90C-A5221A02DFA0}"/>
              </a:ext>
            </a:extLst>
          </p:cNvPr>
          <p:cNvSpPr txBox="1"/>
          <p:nvPr/>
        </p:nvSpPr>
        <p:spPr>
          <a:xfrm>
            <a:off x="9610725" y="1586671"/>
            <a:ext cx="752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solidFill>
                  <a:srgbClr val="663300"/>
                </a:solidFill>
              </a:rPr>
              <a:t>C</a:t>
            </a:r>
            <a:endParaRPr lang="ko-KR" altLang="en-US" sz="6000" dirty="0">
              <a:solidFill>
                <a:srgbClr val="6633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6A05B-B05C-4069-A425-638E604246F0}"/>
              </a:ext>
            </a:extLst>
          </p:cNvPr>
          <p:cNvSpPr txBox="1"/>
          <p:nvPr/>
        </p:nvSpPr>
        <p:spPr>
          <a:xfrm>
            <a:off x="11253791" y="1279861"/>
            <a:ext cx="752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solidFill>
                  <a:srgbClr val="663300"/>
                </a:solidFill>
              </a:rPr>
              <a:t>E</a:t>
            </a:r>
            <a:endParaRPr lang="ko-KR" altLang="en-US" sz="6000" dirty="0">
              <a:solidFill>
                <a:srgbClr val="6633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F672D-A9B7-411D-A5E4-F44E2B00C8BC}"/>
              </a:ext>
            </a:extLst>
          </p:cNvPr>
          <p:cNvSpPr txBox="1"/>
          <p:nvPr/>
        </p:nvSpPr>
        <p:spPr>
          <a:xfrm>
            <a:off x="10363201" y="772030"/>
            <a:ext cx="752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solidFill>
                  <a:srgbClr val="663300"/>
                </a:solidFill>
              </a:rPr>
              <a:t>I</a:t>
            </a:r>
            <a:endParaRPr lang="ko-KR" altLang="en-US" sz="6000" dirty="0">
              <a:solidFill>
                <a:srgbClr val="6633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72D1A-E8F5-4182-A91A-E82DD7589EBD}"/>
              </a:ext>
            </a:extLst>
          </p:cNvPr>
          <p:cNvSpPr txBox="1"/>
          <p:nvPr/>
        </p:nvSpPr>
        <p:spPr>
          <a:xfrm>
            <a:off x="10529889" y="1996738"/>
            <a:ext cx="752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solidFill>
                  <a:srgbClr val="663300"/>
                </a:solidFill>
              </a:rPr>
              <a:t>P</a:t>
            </a:r>
            <a:endParaRPr lang="ko-KR" altLang="en-US" sz="6000" dirty="0">
              <a:solidFill>
                <a:srgbClr val="66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29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29420B-C68A-4C39-A437-3E50DE09F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82" y="1647824"/>
            <a:ext cx="4673693" cy="46736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FE99E0B-D10C-418F-89AE-AA46C2062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473EE7-5898-4977-B875-A063DB088476}"/>
              </a:ext>
            </a:extLst>
          </p:cNvPr>
          <p:cNvSpPr txBox="1"/>
          <p:nvPr/>
        </p:nvSpPr>
        <p:spPr>
          <a:xfrm>
            <a:off x="1145219" y="405413"/>
            <a:ext cx="2636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소개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22BC5E-A1A5-496E-8622-A52B230CE86E}"/>
              </a:ext>
            </a:extLst>
          </p:cNvPr>
          <p:cNvSpPr/>
          <p:nvPr/>
        </p:nvSpPr>
        <p:spPr>
          <a:xfrm>
            <a:off x="6294268" y="2299317"/>
            <a:ext cx="5113538" cy="816746"/>
          </a:xfrm>
          <a:prstGeom prst="roundRect">
            <a:avLst/>
          </a:prstGeom>
          <a:solidFill>
            <a:srgbClr val="DDB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latin typeface="DX영화자막 M" panose="02020600000000000000" pitchFamily="18" charset="-127"/>
                <a:ea typeface="DX영화자막 M" panose="02020600000000000000" pitchFamily="18" charset="-127"/>
              </a:rPr>
              <a:t>남이 해준 음식 보다는 자신이 해먹는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59B3953-0FE5-4850-B1AF-F7293A3D0475}"/>
              </a:ext>
            </a:extLst>
          </p:cNvPr>
          <p:cNvSpPr/>
          <p:nvPr/>
        </p:nvSpPr>
        <p:spPr>
          <a:xfrm>
            <a:off x="6294268" y="3429000"/>
            <a:ext cx="5113538" cy="816746"/>
          </a:xfrm>
          <a:prstGeom prst="roundRect">
            <a:avLst/>
          </a:prstGeom>
          <a:solidFill>
            <a:srgbClr val="E7A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 err="1">
                <a:latin typeface="DX영화자막 M" panose="02020600000000000000" pitchFamily="18" charset="-127"/>
                <a:ea typeface="DX영화자막 M" panose="02020600000000000000" pitchFamily="18" charset="-127"/>
              </a:rPr>
              <a:t>패스트</a:t>
            </a:r>
            <a:r>
              <a:rPr lang="ko-KR" altLang="en-US" sz="2200" dirty="0">
                <a:latin typeface="DX영화자막 M" panose="02020600000000000000" pitchFamily="18" charset="-127"/>
                <a:ea typeface="DX영화자막 M" panose="02020600000000000000" pitchFamily="18" charset="-127"/>
              </a:rPr>
              <a:t> </a:t>
            </a:r>
            <a:r>
              <a:rPr lang="ko-KR" altLang="en-US" sz="2200" dirty="0" err="1">
                <a:latin typeface="DX영화자막 M" panose="02020600000000000000" pitchFamily="18" charset="-127"/>
                <a:ea typeface="DX영화자막 M" panose="02020600000000000000" pitchFamily="18" charset="-127"/>
              </a:rPr>
              <a:t>푸드</a:t>
            </a:r>
            <a:r>
              <a:rPr lang="ko-KR" altLang="en-US" sz="2200" dirty="0">
                <a:latin typeface="DX영화자막 M" panose="02020600000000000000" pitchFamily="18" charset="-127"/>
                <a:ea typeface="DX영화자막 M" panose="02020600000000000000" pitchFamily="18" charset="-127"/>
              </a:rPr>
              <a:t> 보다는 슬로우 </a:t>
            </a:r>
            <a:r>
              <a:rPr lang="ko-KR" altLang="en-US" sz="2200" dirty="0" err="1">
                <a:latin typeface="DX영화자막 M" panose="02020600000000000000" pitchFamily="18" charset="-127"/>
                <a:ea typeface="DX영화자막 M" panose="02020600000000000000" pitchFamily="18" charset="-127"/>
              </a:rPr>
              <a:t>푸드</a:t>
            </a:r>
            <a:endParaRPr lang="ko-KR" altLang="en-US" sz="2200" dirty="0">
              <a:latin typeface="DX영화자막 M" panose="02020600000000000000" pitchFamily="18" charset="-127"/>
              <a:ea typeface="DX영화자막 M" panose="02020600000000000000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7120846-4335-4CFB-9EED-76C167F6F524}"/>
              </a:ext>
            </a:extLst>
          </p:cNvPr>
          <p:cNvSpPr/>
          <p:nvPr/>
        </p:nvSpPr>
        <p:spPr>
          <a:xfrm>
            <a:off x="6294268" y="4682231"/>
            <a:ext cx="5113538" cy="816746"/>
          </a:xfrm>
          <a:prstGeom prst="roundRect">
            <a:avLst/>
          </a:prstGeom>
          <a:solidFill>
            <a:srgbClr val="99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latin typeface="DX영화자막 M" panose="02020600000000000000" pitchFamily="18" charset="-127"/>
                <a:ea typeface="DX영화자막 M" panose="02020600000000000000" pitchFamily="18" charset="-127"/>
              </a:rPr>
              <a:t>든든한 한 끼를 먹을 수 있는 레시피 공유</a:t>
            </a:r>
          </a:p>
        </p:txBody>
      </p:sp>
    </p:spTree>
    <p:extLst>
      <p:ext uri="{BB962C8B-B14F-4D97-AF65-F5344CB8AC3E}">
        <p14:creationId xmlns:p14="http://schemas.microsoft.com/office/powerpoint/2010/main" val="17104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A349A5-4571-4043-B251-170D400D9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AB9D6A-D88B-4786-82D6-65A310B50B75}"/>
              </a:ext>
            </a:extLst>
          </p:cNvPr>
          <p:cNvSpPr txBox="1"/>
          <p:nvPr/>
        </p:nvSpPr>
        <p:spPr>
          <a:xfrm>
            <a:off x="1145219" y="405413"/>
            <a:ext cx="37030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요구사항 명세서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8051FD6-6078-4CC5-A2A3-01968CEDB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318899"/>
              </p:ext>
            </p:extLst>
          </p:nvPr>
        </p:nvGraphicFramePr>
        <p:xfrm>
          <a:off x="1145219" y="1431678"/>
          <a:ext cx="10093908" cy="50209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318">
                  <a:extLst>
                    <a:ext uri="{9D8B030D-6E8A-4147-A177-3AD203B41FA5}">
                      <a16:colId xmlns:a16="http://schemas.microsoft.com/office/drawing/2014/main" val="3130533427"/>
                    </a:ext>
                  </a:extLst>
                </a:gridCol>
                <a:gridCol w="1063419">
                  <a:extLst>
                    <a:ext uri="{9D8B030D-6E8A-4147-A177-3AD203B41FA5}">
                      <a16:colId xmlns:a16="http://schemas.microsoft.com/office/drawing/2014/main" val="1438110140"/>
                    </a:ext>
                  </a:extLst>
                </a:gridCol>
                <a:gridCol w="1732344">
                  <a:extLst>
                    <a:ext uri="{9D8B030D-6E8A-4147-A177-3AD203B41FA5}">
                      <a16:colId xmlns:a16="http://schemas.microsoft.com/office/drawing/2014/main" val="2465397901"/>
                    </a:ext>
                  </a:extLst>
                </a:gridCol>
                <a:gridCol w="4044996">
                  <a:extLst>
                    <a:ext uri="{9D8B030D-6E8A-4147-A177-3AD203B41FA5}">
                      <a16:colId xmlns:a16="http://schemas.microsoft.com/office/drawing/2014/main" val="1091525751"/>
                    </a:ext>
                  </a:extLst>
                </a:gridCol>
                <a:gridCol w="2001057">
                  <a:extLst>
                    <a:ext uri="{9D8B030D-6E8A-4147-A177-3AD203B41FA5}">
                      <a16:colId xmlns:a16="http://schemas.microsoft.com/office/drawing/2014/main" val="4229953078"/>
                    </a:ext>
                  </a:extLst>
                </a:gridCol>
                <a:gridCol w="651774">
                  <a:extLst>
                    <a:ext uri="{9D8B030D-6E8A-4147-A177-3AD203B41FA5}">
                      <a16:colId xmlns:a16="http://schemas.microsoft.com/office/drawing/2014/main" val="4040815274"/>
                    </a:ext>
                  </a:extLst>
                </a:gridCol>
              </a:tblGrid>
              <a:tr h="36502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문서명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모도리</a:t>
                      </a:r>
                      <a:r>
                        <a:rPr lang="ko-KR" altLang="en-US" sz="1100" u="none" strike="noStrike" dirty="0">
                          <a:effectLst/>
                        </a:rPr>
                        <a:t> 팀 블로그 앱 요구사항 명세서 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676823"/>
                  </a:ext>
                </a:extLst>
              </a:tr>
              <a:tr h="2160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번호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구분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요구사항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설명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제약사항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중요도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407954"/>
                  </a:ext>
                </a:extLst>
              </a:tr>
              <a:tr h="4320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포스트 작성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이미지 첨부기능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정확한 레시피를 전달하고자 이미지 파일을 첨부할 수 있는 기능을 삽입하여 방문자들이 눈으로 볼 수 있게 한다</a:t>
                      </a:r>
                      <a:r>
                        <a:rPr lang="en-US" altLang="ko-KR" sz="1100" u="none" strike="noStrike">
                          <a:effectLst/>
                        </a:rPr>
                        <a:t>.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이미지를 사용할 때 저작권에 위배되지 않아야 한다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058405"/>
                  </a:ext>
                </a:extLst>
              </a:tr>
              <a:tr h="4320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포스트 작성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폰트 관련 기능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포스트 작성시 블로그 특색에 어울리게 폰트를 지정하여 사용한다</a:t>
                      </a:r>
                      <a:r>
                        <a:rPr lang="en-US" altLang="ko-KR" sz="1100" u="none" strike="noStrike" dirty="0">
                          <a:effectLst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980449"/>
                  </a:ext>
                </a:extLst>
              </a:tr>
              <a:tr h="4320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포스트 작성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댓글 관련 기능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댓글기능을 삽입하여 방문자와 블로그 관리자가 서로 피드백을 주고 받을 수 있도록 한다</a:t>
                      </a:r>
                      <a:r>
                        <a:rPr lang="en-US" altLang="ko-KR" sz="1100" u="none" strike="noStrike" dirty="0">
                          <a:effectLst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593774"/>
                  </a:ext>
                </a:extLst>
              </a:tr>
              <a:tr h="4320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포스트작성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태그 관련 기능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게시된 레시피가 어떤 음식에 관한 것인지 관련 태그를 작성할 수 있게 한다</a:t>
                      </a:r>
                      <a:r>
                        <a:rPr lang="en-US" altLang="ko-KR" sz="1100" u="none" strike="noStrike" dirty="0">
                          <a:effectLst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70524"/>
                  </a:ext>
                </a:extLst>
              </a:tr>
              <a:tr h="648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북마크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레시피 관련 북마크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블로그에 있는 레시피 외에도 방문자들이 참고할 수 있는 레시피가 있는 페이지의 </a:t>
                      </a:r>
                      <a:r>
                        <a:rPr lang="en-US" altLang="ko-KR" sz="1100" u="none" strike="noStrike" dirty="0">
                          <a:effectLst/>
                        </a:rPr>
                        <a:t>URL</a:t>
                      </a:r>
                      <a:r>
                        <a:rPr lang="ko-KR" altLang="en-US" sz="1100" u="none" strike="noStrike" dirty="0">
                          <a:effectLst/>
                        </a:rPr>
                        <a:t>을 참조하여 다양한 레시피를 제공할 수 있도록 한다</a:t>
                      </a:r>
                      <a:r>
                        <a:rPr lang="en-US" altLang="ko-KR" sz="1100" u="none" strike="noStrike" dirty="0">
                          <a:effectLst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737048"/>
                  </a:ext>
                </a:extLst>
              </a:tr>
              <a:tr h="648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게시판 기능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리뷰 관련 기능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실제 사이트 방문하여 레시피를 따라한 방문객들이 서로 음식에 대한 리뷰를 남기고 관리자와 피드백을 할 수 있는 기능이다</a:t>
                      </a:r>
                      <a:r>
                        <a:rPr lang="en-US" altLang="ko-KR" sz="1100" u="none" strike="noStrike" dirty="0">
                          <a:effectLst/>
                        </a:rPr>
                        <a:t>.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915"/>
                  </a:ext>
                </a:extLst>
              </a:tr>
              <a:tr h="4320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리스트 기능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뒤로 가기 기능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사용자나 게시물 작성자가 뒤로 가기 버튼을 통해 이전 게시물로 이동할 수 있는 기능이다</a:t>
                      </a:r>
                      <a:r>
                        <a:rPr lang="en-US" altLang="ko-KR" sz="1100" u="none" strike="noStrike" dirty="0">
                          <a:effectLst/>
                        </a:rPr>
                        <a:t>.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588525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리스트 기능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리스트 </a:t>
                      </a: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r>
                        <a:rPr lang="ko-KR" altLang="en-US" sz="1100" u="none" strike="noStrike">
                          <a:effectLst/>
                        </a:rPr>
                        <a:t>개를 화면에 표현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레시피 리스트 </a:t>
                      </a: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r>
                        <a:rPr lang="ko-KR" altLang="en-US" sz="1100" u="none" strike="noStrike">
                          <a:effectLst/>
                        </a:rPr>
                        <a:t>개를 구성한다</a:t>
                      </a:r>
                      <a:r>
                        <a:rPr lang="en-US" altLang="ko-KR" sz="1100" u="none" strike="noStrike">
                          <a:effectLst/>
                        </a:rPr>
                        <a:t>.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3678"/>
                  </a:ext>
                </a:extLst>
              </a:tr>
              <a:tr h="2160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DB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레시피 </a:t>
                      </a:r>
                      <a:r>
                        <a:rPr lang="en-US" altLang="ko-KR" sz="1100" u="none" strike="noStrike">
                          <a:effectLst/>
                        </a:rPr>
                        <a:t>DB </a:t>
                      </a:r>
                      <a:r>
                        <a:rPr lang="ko-KR" altLang="en-US" sz="1100" u="none" strike="noStrike">
                          <a:effectLst/>
                        </a:rPr>
                        <a:t>필드 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Blog</a:t>
                      </a:r>
                      <a:r>
                        <a:rPr lang="ko-KR" altLang="en-US" sz="1100" u="none" strike="noStrike">
                          <a:effectLst/>
                        </a:rPr>
                        <a:t>앱 </a:t>
                      </a:r>
                      <a:r>
                        <a:rPr lang="en-US" altLang="ko-KR" sz="1100" u="none" strike="noStrike">
                          <a:effectLst/>
                        </a:rPr>
                        <a:t>models.py</a:t>
                      </a:r>
                      <a:r>
                        <a:rPr lang="ko-KR" altLang="en-US" sz="1100" u="none" strike="noStrike">
                          <a:effectLst/>
                        </a:rPr>
                        <a:t>에 레시피 </a:t>
                      </a:r>
                      <a:r>
                        <a:rPr lang="en-US" altLang="ko-KR" sz="1100" u="none" strike="noStrike">
                          <a:effectLst/>
                        </a:rPr>
                        <a:t>DB</a:t>
                      </a:r>
                      <a:r>
                        <a:rPr lang="ko-KR" altLang="en-US" sz="1100" u="none" strike="noStrike">
                          <a:effectLst/>
                        </a:rPr>
                        <a:t>필드를 추가한다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248620"/>
                  </a:ext>
                </a:extLst>
              </a:tr>
              <a:tr h="2160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UI/UX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UI/UX</a:t>
                      </a:r>
                      <a:r>
                        <a:rPr lang="ko-KR" altLang="en-US" sz="1100" u="none" strike="noStrike">
                          <a:effectLst/>
                        </a:rPr>
                        <a:t>변경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기존 </a:t>
                      </a:r>
                      <a:r>
                        <a:rPr lang="en-US" altLang="ko-KR" sz="1100" u="none" strike="noStrike">
                          <a:effectLst/>
                        </a:rPr>
                        <a:t>Blog</a:t>
                      </a:r>
                      <a:r>
                        <a:rPr lang="ko-KR" altLang="en-US" sz="1100" u="none" strike="noStrike">
                          <a:effectLst/>
                        </a:rPr>
                        <a:t>앱과 다르게 </a:t>
                      </a:r>
                      <a:r>
                        <a:rPr lang="en-US" altLang="ko-KR" sz="1100" u="none" strike="noStrike">
                          <a:effectLst/>
                        </a:rPr>
                        <a:t>UI/UX</a:t>
                      </a:r>
                      <a:r>
                        <a:rPr lang="ko-KR" altLang="en-US" sz="1100" u="none" strike="noStrike">
                          <a:effectLst/>
                        </a:rPr>
                        <a:t>를 구상한다</a:t>
                      </a:r>
                      <a:r>
                        <a:rPr lang="en-US" altLang="ko-KR" sz="1100" u="none" strike="noStrike">
                          <a:effectLst/>
                        </a:rPr>
                        <a:t>.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386451"/>
                  </a:ext>
                </a:extLst>
              </a:tr>
              <a:tr h="2160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형식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HTML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템플릿의 형식을 </a:t>
                      </a:r>
                      <a:r>
                        <a:rPr lang="en-US" altLang="ko-KR" sz="1100" u="none" strike="noStrike">
                          <a:effectLst/>
                        </a:rPr>
                        <a:t>HTML</a:t>
                      </a:r>
                      <a:r>
                        <a:rPr lang="ko-KR" altLang="en-US" sz="1100" u="none" strike="noStrike">
                          <a:effectLst/>
                        </a:rPr>
                        <a:t>파일로 지정한다</a:t>
                      </a:r>
                      <a:r>
                        <a:rPr lang="en-US" altLang="ko-KR" sz="1100" u="none" strike="noStrike">
                          <a:effectLst/>
                        </a:rPr>
                        <a:t>.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56" marR="6456" marT="64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945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13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1791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 구조도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- 1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메뉴 구조도</a:t>
            </a:r>
          </a:p>
        </p:txBody>
      </p:sp>
      <p:pic>
        <p:nvPicPr>
          <p:cNvPr id="3" name="그림 2" descr="스크린샷, 텍스트이(가) 표시된 사진&#10;&#10;자동 생성된 설명">
            <a:extLst>
              <a:ext uri="{FF2B5EF4-FFF2-40B4-BE49-F238E27FC236}">
                <a16:creationId xmlns:a16="http://schemas.microsoft.com/office/drawing/2014/main" id="{25C30D26-55A5-4CD8-AEA6-4B1F7C653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72" y="1267187"/>
            <a:ext cx="10667456" cy="541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7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1791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ERD</a:t>
            </a:r>
          </a:p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:a16="http://schemas.microsoft.com/office/drawing/2014/main" id="{6D500431-E78C-41BF-962C-DC3611621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95" y="110741"/>
            <a:ext cx="8791549" cy="663651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E585505-E297-46B3-83F6-E3AC84D02479}"/>
              </a:ext>
            </a:extLst>
          </p:cNvPr>
          <p:cNvSpPr/>
          <p:nvPr/>
        </p:nvSpPr>
        <p:spPr>
          <a:xfrm>
            <a:off x="3030071" y="3558988"/>
            <a:ext cx="2868705" cy="3092824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C9FD96-F652-44C0-AF0C-28168284295C}"/>
              </a:ext>
            </a:extLst>
          </p:cNvPr>
          <p:cNvSpPr/>
          <p:nvPr/>
        </p:nvSpPr>
        <p:spPr>
          <a:xfrm>
            <a:off x="6096001" y="4054288"/>
            <a:ext cx="2533650" cy="2298887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B62CD-F007-4995-8944-1680DCB7372A}"/>
              </a:ext>
            </a:extLst>
          </p:cNvPr>
          <p:cNvSpPr txBox="1"/>
          <p:nvPr/>
        </p:nvSpPr>
        <p:spPr>
          <a:xfrm>
            <a:off x="9001125" y="4920734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장고 내장 테이블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1D04260-6DB2-424A-B326-19B6DAE1D38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8629651" y="5105400"/>
            <a:ext cx="3714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E26C5E-3FB5-4B11-AD4F-E8279E132A79}"/>
              </a:ext>
            </a:extLst>
          </p:cNvPr>
          <p:cNvSpPr txBox="1"/>
          <p:nvPr/>
        </p:nvSpPr>
        <p:spPr>
          <a:xfrm>
            <a:off x="9508854" y="405413"/>
            <a:ext cx="1969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 name: basic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7A7276-CC8C-4C62-8FE8-48CD84D6F01B}"/>
              </a:ext>
            </a:extLst>
          </p:cNvPr>
          <p:cNvSpPr txBox="1"/>
          <p:nvPr/>
        </p:nvSpPr>
        <p:spPr>
          <a:xfrm>
            <a:off x="6362700" y="405413"/>
            <a:ext cx="2125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 name: review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186FA8-F295-471E-8FEF-ED96DFFDF311}"/>
              </a:ext>
            </a:extLst>
          </p:cNvPr>
          <p:cNvSpPr txBox="1"/>
          <p:nvPr/>
        </p:nvSpPr>
        <p:spPr>
          <a:xfrm>
            <a:off x="3306314" y="-5381"/>
            <a:ext cx="1879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App name: blog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7F573F-F5B1-4952-A3FC-439709F9F063}"/>
              </a:ext>
            </a:extLst>
          </p:cNvPr>
          <p:cNvSpPr txBox="1"/>
          <p:nvPr/>
        </p:nvSpPr>
        <p:spPr>
          <a:xfrm>
            <a:off x="3030071" y="1648187"/>
            <a:ext cx="325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</a:p>
          <a:p>
            <a:pPr algn="ctr"/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</a:p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83D3C4-51B9-46C9-9D26-A15A456A7280}"/>
              </a:ext>
            </a:extLst>
          </p:cNvPr>
          <p:cNvSpPr txBox="1"/>
          <p:nvPr/>
        </p:nvSpPr>
        <p:spPr>
          <a:xfrm>
            <a:off x="6044984" y="1648187"/>
            <a:ext cx="325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</a:t>
            </a:r>
          </a:p>
          <a:p>
            <a:pPr algn="ctr"/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</a:p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97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1791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테이블 명세서 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my_recipe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1B546F3-C691-4F10-B476-908406232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909697"/>
              </p:ext>
            </p:extLst>
          </p:nvPr>
        </p:nvGraphicFramePr>
        <p:xfrm>
          <a:off x="1742890" y="1591519"/>
          <a:ext cx="9458509" cy="48610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1825">
                  <a:extLst>
                    <a:ext uri="{9D8B030D-6E8A-4147-A177-3AD203B41FA5}">
                      <a16:colId xmlns:a16="http://schemas.microsoft.com/office/drawing/2014/main" val="838534031"/>
                    </a:ext>
                  </a:extLst>
                </a:gridCol>
                <a:gridCol w="1690078">
                  <a:extLst>
                    <a:ext uri="{9D8B030D-6E8A-4147-A177-3AD203B41FA5}">
                      <a16:colId xmlns:a16="http://schemas.microsoft.com/office/drawing/2014/main" val="2845004023"/>
                    </a:ext>
                  </a:extLst>
                </a:gridCol>
                <a:gridCol w="1814610">
                  <a:extLst>
                    <a:ext uri="{9D8B030D-6E8A-4147-A177-3AD203B41FA5}">
                      <a16:colId xmlns:a16="http://schemas.microsoft.com/office/drawing/2014/main" val="1363221005"/>
                    </a:ext>
                  </a:extLst>
                </a:gridCol>
                <a:gridCol w="925096">
                  <a:extLst>
                    <a:ext uri="{9D8B030D-6E8A-4147-A177-3AD203B41FA5}">
                      <a16:colId xmlns:a16="http://schemas.microsoft.com/office/drawing/2014/main" val="3700777800"/>
                    </a:ext>
                  </a:extLst>
                </a:gridCol>
                <a:gridCol w="1245322">
                  <a:extLst>
                    <a:ext uri="{9D8B030D-6E8A-4147-A177-3AD203B41FA5}">
                      <a16:colId xmlns:a16="http://schemas.microsoft.com/office/drawing/2014/main" val="1801866412"/>
                    </a:ext>
                  </a:extLst>
                </a:gridCol>
                <a:gridCol w="2241578">
                  <a:extLst>
                    <a:ext uri="{9D8B030D-6E8A-4147-A177-3AD203B41FA5}">
                      <a16:colId xmlns:a16="http://schemas.microsoft.com/office/drawing/2014/main" val="295189054"/>
                    </a:ext>
                  </a:extLst>
                </a:gridCol>
              </a:tblGrid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 err="1">
                          <a:effectLst/>
                        </a:rPr>
                        <a:t>문서명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 err="1">
                          <a:effectLst/>
                        </a:rPr>
                        <a:t>모도리팀</a:t>
                      </a:r>
                      <a:r>
                        <a:rPr lang="ko-KR" altLang="en-US" sz="1600" u="none" strike="noStrike" dirty="0">
                          <a:effectLst/>
                        </a:rPr>
                        <a:t> </a:t>
                      </a:r>
                      <a:r>
                        <a:rPr lang="en-US" altLang="ko-KR" sz="1600" u="none" strike="noStrike" dirty="0">
                          <a:effectLst/>
                        </a:rPr>
                        <a:t>DB </a:t>
                      </a:r>
                      <a:r>
                        <a:rPr lang="ko-KR" altLang="en-US" sz="1600" u="none" strike="noStrike" dirty="0">
                          <a:effectLst/>
                        </a:rPr>
                        <a:t>명세서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09" marR="108609" marT="54305" marB="543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775443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테이블명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</a:rPr>
                        <a:t>my_recipe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09" marR="108609" marT="54305" marB="543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8799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 err="1">
                          <a:effectLst/>
                        </a:rPr>
                        <a:t>필드명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데이터타입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NULL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KEY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>
                          <a:effectLst/>
                        </a:rPr>
                        <a:t>설명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01926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id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INTEGER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N·N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PRIMARY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>
                          <a:effectLst/>
                        </a:rPr>
                        <a:t>아이디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291171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title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VARCHAR(50)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N·N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>
                          <a:effectLst/>
                        </a:rPr>
                        <a:t>　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>
                          <a:effectLst/>
                        </a:rPr>
                        <a:t>포스트의 제목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990488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3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slug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VARCHAR(50)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N·N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>
                          <a:effectLst/>
                        </a:rPr>
                        <a:t>　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slug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711499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4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description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VARCHAR(100)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N·N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　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>
                          <a:effectLst/>
                        </a:rPr>
                        <a:t>간단한설명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305861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image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VARCHAR(100)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N·N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　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>
                          <a:effectLst/>
                        </a:rPr>
                        <a:t>이미지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715832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6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content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TEXT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N·N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　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>
                          <a:effectLst/>
                        </a:rPr>
                        <a:t>실제 레시피 내용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58836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7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create_date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DATETIME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N·N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　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등록시간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59638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modify_date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DATETIME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N·N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　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수정시간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550513"/>
                  </a:ext>
                </a:extLst>
              </a:tr>
              <a:tr h="4050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u="none" strike="noStrike">
                          <a:effectLst/>
                        </a:rPr>
                        <a:t>9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tag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VARCHAR(255)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N·N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　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effectLst/>
                        </a:rPr>
                        <a:t>태그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51" marR="9051" marT="9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34298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4ADCB2B-8AEC-4E1F-A7C1-46455F1AE99D}"/>
              </a:ext>
            </a:extLst>
          </p:cNvPr>
          <p:cNvSpPr txBox="1"/>
          <p:nvPr/>
        </p:nvSpPr>
        <p:spPr>
          <a:xfrm>
            <a:off x="3517621" y="565580"/>
            <a:ext cx="2002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App name : blog</a:t>
            </a:r>
            <a:endParaRPr lang="ko-KR" altLang="en-US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721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52467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테이블 명세서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blog_bookmark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8287DD1-C5F7-41A1-90B2-BBD5860BF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867701"/>
              </p:ext>
            </p:extLst>
          </p:nvPr>
        </p:nvGraphicFramePr>
        <p:xfrm>
          <a:off x="729356" y="2306529"/>
          <a:ext cx="10733288" cy="30941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1429">
                  <a:extLst>
                    <a:ext uri="{9D8B030D-6E8A-4147-A177-3AD203B41FA5}">
                      <a16:colId xmlns:a16="http://schemas.microsoft.com/office/drawing/2014/main" val="3099898777"/>
                    </a:ext>
                  </a:extLst>
                </a:gridCol>
                <a:gridCol w="1546545">
                  <a:extLst>
                    <a:ext uri="{9D8B030D-6E8A-4147-A177-3AD203B41FA5}">
                      <a16:colId xmlns:a16="http://schemas.microsoft.com/office/drawing/2014/main" val="399599843"/>
                    </a:ext>
                  </a:extLst>
                </a:gridCol>
                <a:gridCol w="2181025">
                  <a:extLst>
                    <a:ext uri="{9D8B030D-6E8A-4147-A177-3AD203B41FA5}">
                      <a16:colId xmlns:a16="http://schemas.microsoft.com/office/drawing/2014/main" val="1576447072"/>
                    </a:ext>
                  </a:extLst>
                </a:gridCol>
                <a:gridCol w="1031031">
                  <a:extLst>
                    <a:ext uri="{9D8B030D-6E8A-4147-A177-3AD203B41FA5}">
                      <a16:colId xmlns:a16="http://schemas.microsoft.com/office/drawing/2014/main" val="27953096"/>
                    </a:ext>
                  </a:extLst>
                </a:gridCol>
                <a:gridCol w="1387925">
                  <a:extLst>
                    <a:ext uri="{9D8B030D-6E8A-4147-A177-3AD203B41FA5}">
                      <a16:colId xmlns:a16="http://schemas.microsoft.com/office/drawing/2014/main" val="1461549037"/>
                    </a:ext>
                  </a:extLst>
                </a:gridCol>
                <a:gridCol w="2835333">
                  <a:extLst>
                    <a:ext uri="{9D8B030D-6E8A-4147-A177-3AD203B41FA5}">
                      <a16:colId xmlns:a16="http://schemas.microsoft.com/office/drawing/2014/main" val="661432583"/>
                    </a:ext>
                  </a:extLst>
                </a:gridCol>
              </a:tblGrid>
              <a:tr h="4420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 err="1">
                          <a:effectLst/>
                        </a:rPr>
                        <a:t>문서명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 err="1">
                          <a:effectLst/>
                        </a:rPr>
                        <a:t>모도리팀</a:t>
                      </a:r>
                      <a:r>
                        <a:rPr lang="ko-KR" altLang="en-US" sz="1700" u="none" strike="noStrike" dirty="0">
                          <a:effectLst/>
                        </a:rPr>
                        <a:t> </a:t>
                      </a:r>
                      <a:r>
                        <a:rPr lang="en-US" altLang="ko-KR" sz="1700" u="none" strike="noStrike" dirty="0">
                          <a:effectLst/>
                        </a:rPr>
                        <a:t>DB </a:t>
                      </a:r>
                      <a:r>
                        <a:rPr lang="ko-KR" altLang="en-US" sz="1700" u="none" strike="noStrike" dirty="0">
                          <a:effectLst/>
                        </a:rPr>
                        <a:t>명세서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2275" marR="142275" marT="71138" marB="71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57494"/>
                  </a:ext>
                </a:extLst>
              </a:tr>
              <a:tr h="4420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테이블명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 err="1">
                          <a:effectLst/>
                        </a:rPr>
                        <a:t>blog_bookmark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2275" marR="142275" marT="71138" marB="71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967659"/>
                  </a:ext>
                </a:extLst>
              </a:tr>
              <a:tr h="44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NO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필드명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</a:rPr>
                        <a:t>데이터타입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NULL 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KEY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설명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53216"/>
                  </a:ext>
                </a:extLst>
              </a:tr>
              <a:tr h="44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>
                          <a:effectLst/>
                        </a:rPr>
                        <a:t>1</a:t>
                      </a:r>
                      <a:endParaRPr lang="en-US" altLang="ko-KR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id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INTEGER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N·N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PRIMARY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북마크 </a:t>
                      </a:r>
                      <a:r>
                        <a:rPr lang="en-US" sz="1700" u="none" strike="noStrike">
                          <a:effectLst/>
                        </a:rPr>
                        <a:t>ID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051483"/>
                  </a:ext>
                </a:extLst>
              </a:tr>
              <a:tr h="44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>
                          <a:effectLst/>
                        </a:rPr>
                        <a:t>2</a:t>
                      </a:r>
                      <a:endParaRPr lang="en-US" altLang="ko-KR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receipe_id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INTEGER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N·N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dirty="0">
                          <a:solidFill>
                            <a:srgbClr val="222222"/>
                          </a:solidFill>
                          <a:effectLst/>
                          <a:latin typeface="Apple SD Gothic Neo"/>
                        </a:rPr>
                        <a:t>Foreign</a:t>
                      </a:r>
                      <a:r>
                        <a:rPr lang="ko-KR" altLang="en-US" sz="1700" u="none" strike="noStrike" dirty="0">
                          <a:effectLst/>
                        </a:rPr>
                        <a:t>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작성된 레시피 </a:t>
                      </a:r>
                      <a:r>
                        <a:rPr lang="en-US" altLang="ko-KR" sz="1700" u="none" strike="noStrike">
                          <a:effectLst/>
                        </a:rPr>
                        <a:t>ID</a:t>
                      </a:r>
                      <a:endParaRPr lang="en-US" altLang="ko-KR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333131"/>
                  </a:ext>
                </a:extLst>
              </a:tr>
              <a:tr h="44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>
                          <a:effectLst/>
                        </a:rPr>
                        <a:t>3</a:t>
                      </a:r>
                      <a:endParaRPr lang="en-US" altLang="ko-KR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title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VARCHAR(100)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NULL 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</a:rPr>
                        <a:t>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>
                          <a:effectLst/>
                        </a:rPr>
                        <a:t>URL </a:t>
                      </a:r>
                      <a:r>
                        <a:rPr lang="ko-KR" altLang="en-US" sz="1700" u="none" strike="noStrike">
                          <a:effectLst/>
                        </a:rPr>
                        <a:t>주소 링크 제목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919665"/>
                  </a:ext>
                </a:extLst>
              </a:tr>
              <a:tr h="4420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>
                          <a:effectLst/>
                        </a:rPr>
                        <a:t>4</a:t>
                      </a:r>
                      <a:endParaRPr lang="en-US" altLang="ko-KR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url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VARCHAR(200)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N·N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</a:rPr>
                        <a:t>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</a:rPr>
                        <a:t>실제 </a:t>
                      </a:r>
                      <a:r>
                        <a:rPr lang="en-US" sz="1700" u="none" strike="noStrike" dirty="0">
                          <a:effectLst/>
                        </a:rPr>
                        <a:t>URL </a:t>
                      </a:r>
                      <a:r>
                        <a:rPr lang="ko-KR" altLang="en-US" sz="1700" u="none" strike="noStrike" dirty="0">
                          <a:effectLst/>
                        </a:rPr>
                        <a:t>주소 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56" marR="11856" marT="118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6265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423F2A-48CA-4AED-8E86-926C4405E73A}"/>
              </a:ext>
            </a:extLst>
          </p:cNvPr>
          <p:cNvSpPr txBox="1"/>
          <p:nvPr/>
        </p:nvSpPr>
        <p:spPr>
          <a:xfrm>
            <a:off x="3517621" y="565580"/>
            <a:ext cx="2002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App name : blog</a:t>
            </a:r>
            <a:endParaRPr lang="ko-KR" altLang="en-US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427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75904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테이블 명세서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review_album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,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review_photo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EA9B12E-4558-4210-89FF-BEAC4C9A7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471235"/>
              </p:ext>
            </p:extLst>
          </p:nvPr>
        </p:nvGraphicFramePr>
        <p:xfrm>
          <a:off x="604989" y="1732864"/>
          <a:ext cx="10973194" cy="4443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3443">
                  <a:extLst>
                    <a:ext uri="{9D8B030D-6E8A-4147-A177-3AD203B41FA5}">
                      <a16:colId xmlns:a16="http://schemas.microsoft.com/office/drawing/2014/main" val="3268609465"/>
                    </a:ext>
                  </a:extLst>
                </a:gridCol>
                <a:gridCol w="2013698">
                  <a:extLst>
                    <a:ext uri="{9D8B030D-6E8A-4147-A177-3AD203B41FA5}">
                      <a16:colId xmlns:a16="http://schemas.microsoft.com/office/drawing/2014/main" val="2174510885"/>
                    </a:ext>
                  </a:extLst>
                </a:gridCol>
                <a:gridCol w="2407680">
                  <a:extLst>
                    <a:ext uri="{9D8B030D-6E8A-4147-A177-3AD203B41FA5}">
                      <a16:colId xmlns:a16="http://schemas.microsoft.com/office/drawing/2014/main" val="3723101754"/>
                    </a:ext>
                  </a:extLst>
                </a:gridCol>
                <a:gridCol w="1138179">
                  <a:extLst>
                    <a:ext uri="{9D8B030D-6E8A-4147-A177-3AD203B41FA5}">
                      <a16:colId xmlns:a16="http://schemas.microsoft.com/office/drawing/2014/main" val="2536283792"/>
                    </a:ext>
                  </a:extLst>
                </a:gridCol>
                <a:gridCol w="1532160">
                  <a:extLst>
                    <a:ext uri="{9D8B030D-6E8A-4147-A177-3AD203B41FA5}">
                      <a16:colId xmlns:a16="http://schemas.microsoft.com/office/drawing/2014/main" val="354732816"/>
                    </a:ext>
                  </a:extLst>
                </a:gridCol>
                <a:gridCol w="1948034">
                  <a:extLst>
                    <a:ext uri="{9D8B030D-6E8A-4147-A177-3AD203B41FA5}">
                      <a16:colId xmlns:a16="http://schemas.microsoft.com/office/drawing/2014/main" val="777288606"/>
                    </a:ext>
                  </a:extLst>
                </a:gridCol>
              </a:tblGrid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 err="1">
                          <a:effectLst/>
                        </a:rPr>
                        <a:t>문서명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 err="1">
                          <a:effectLst/>
                        </a:rPr>
                        <a:t>모도리팀</a:t>
                      </a:r>
                      <a:r>
                        <a:rPr lang="ko-KR" altLang="en-US" sz="1300" u="none" strike="noStrike" dirty="0">
                          <a:effectLst/>
                        </a:rPr>
                        <a:t> </a:t>
                      </a:r>
                      <a:r>
                        <a:rPr lang="en-US" altLang="ko-KR" sz="1300" u="none" strike="noStrike" dirty="0">
                          <a:effectLst/>
                        </a:rPr>
                        <a:t>DB </a:t>
                      </a:r>
                      <a:r>
                        <a:rPr lang="ko-KR" altLang="en-US" sz="1300" u="none" strike="noStrike" dirty="0">
                          <a:effectLst/>
                        </a:rPr>
                        <a:t>명세서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838" marR="133838" marT="66919" marB="66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888530"/>
                  </a:ext>
                </a:extLst>
              </a:tr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테이블명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err="1">
                          <a:effectLst/>
                        </a:rPr>
                        <a:t>review_photo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838" marR="133838" marT="66919" marB="66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155183"/>
                  </a:ext>
                </a:extLst>
              </a:tr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NO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 err="1">
                          <a:effectLst/>
                        </a:rPr>
                        <a:t>필드명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데이터타입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NULL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KEY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effectLst/>
                        </a:rPr>
                        <a:t>설명</a:t>
                      </a:r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343627"/>
                  </a:ext>
                </a:extLst>
              </a:tr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id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INTEGER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N·N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PRIMARY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id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993061"/>
                  </a:ext>
                </a:extLst>
              </a:tr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album_id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INTEGER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N·N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FOREIGN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effectLst/>
                        </a:rPr>
                        <a:t>앨범 </a:t>
                      </a:r>
                      <a:r>
                        <a:rPr lang="en-US" sz="1300" u="none" strike="noStrike">
                          <a:effectLst/>
                        </a:rPr>
                        <a:t>ID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934482"/>
                  </a:ext>
                </a:extLst>
              </a:tr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title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VARCHAR(50)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N·N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effectLst/>
                        </a:rPr>
                        <a:t>　</a:t>
                      </a:r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제목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888026"/>
                  </a:ext>
                </a:extLst>
              </a:tr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image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VARCHAR(100)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N·N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effectLst/>
                        </a:rPr>
                        <a:t>　</a:t>
                      </a:r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effectLst/>
                        </a:rPr>
                        <a:t>사진 제목</a:t>
                      </a:r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4062"/>
                  </a:ext>
                </a:extLst>
              </a:tr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description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TEXT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N·N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effectLst/>
                        </a:rPr>
                        <a:t>설명</a:t>
                      </a:r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11101"/>
                  </a:ext>
                </a:extLst>
              </a:tr>
              <a:tr h="4937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upload_date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DATETIME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N·N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업로드 시간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79" marR="9479" marT="9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73936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B3F1AB2-AD4A-4DEB-992B-5EB9FD029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231460"/>
              </p:ext>
            </p:extLst>
          </p:nvPr>
        </p:nvGraphicFramePr>
        <p:xfrm>
          <a:off x="1058373" y="2523071"/>
          <a:ext cx="10066426" cy="28630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8593">
                  <a:extLst>
                    <a:ext uri="{9D8B030D-6E8A-4147-A177-3AD203B41FA5}">
                      <a16:colId xmlns:a16="http://schemas.microsoft.com/office/drawing/2014/main" val="3640604659"/>
                    </a:ext>
                  </a:extLst>
                </a:gridCol>
                <a:gridCol w="1765168">
                  <a:extLst>
                    <a:ext uri="{9D8B030D-6E8A-4147-A177-3AD203B41FA5}">
                      <a16:colId xmlns:a16="http://schemas.microsoft.com/office/drawing/2014/main" val="1068360479"/>
                    </a:ext>
                  </a:extLst>
                </a:gridCol>
                <a:gridCol w="2339380">
                  <a:extLst>
                    <a:ext uri="{9D8B030D-6E8A-4147-A177-3AD203B41FA5}">
                      <a16:colId xmlns:a16="http://schemas.microsoft.com/office/drawing/2014/main" val="1219938760"/>
                    </a:ext>
                  </a:extLst>
                </a:gridCol>
                <a:gridCol w="1105889">
                  <a:extLst>
                    <a:ext uri="{9D8B030D-6E8A-4147-A177-3AD203B41FA5}">
                      <a16:colId xmlns:a16="http://schemas.microsoft.com/office/drawing/2014/main" val="687070280"/>
                    </a:ext>
                  </a:extLst>
                </a:gridCol>
                <a:gridCol w="1488698">
                  <a:extLst>
                    <a:ext uri="{9D8B030D-6E8A-4147-A177-3AD203B41FA5}">
                      <a16:colId xmlns:a16="http://schemas.microsoft.com/office/drawing/2014/main" val="1148375805"/>
                    </a:ext>
                  </a:extLst>
                </a:gridCol>
                <a:gridCol w="1488698">
                  <a:extLst>
                    <a:ext uri="{9D8B030D-6E8A-4147-A177-3AD203B41FA5}">
                      <a16:colId xmlns:a16="http://schemas.microsoft.com/office/drawing/2014/main" val="3379756397"/>
                    </a:ext>
                  </a:extLst>
                </a:gridCol>
              </a:tblGrid>
              <a:tr h="409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 err="1">
                          <a:effectLst/>
                        </a:rPr>
                        <a:t>문서명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 err="1">
                          <a:effectLst/>
                        </a:rPr>
                        <a:t>모도리팀</a:t>
                      </a:r>
                      <a:r>
                        <a:rPr lang="ko-KR" altLang="en-US" sz="1500" u="none" strike="noStrike" dirty="0">
                          <a:effectLst/>
                        </a:rPr>
                        <a:t> </a:t>
                      </a:r>
                      <a:r>
                        <a:rPr lang="en-US" altLang="ko-KR" sz="1500" u="none" strike="noStrike" dirty="0">
                          <a:effectLst/>
                        </a:rPr>
                        <a:t>DB </a:t>
                      </a:r>
                      <a:r>
                        <a:rPr lang="ko-KR" altLang="en-US" sz="1500" u="none" strike="noStrike" dirty="0">
                          <a:effectLst/>
                        </a:rPr>
                        <a:t>명세서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216" marR="128216" marT="64108" marB="64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425079"/>
                  </a:ext>
                </a:extLst>
              </a:tr>
              <a:tr h="409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>
                          <a:effectLst/>
                        </a:rPr>
                        <a:t>테이블명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err="1">
                          <a:effectLst/>
                        </a:rPr>
                        <a:t>review_album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8216" marR="128216" marT="64108" marB="64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672491"/>
                  </a:ext>
                </a:extLst>
              </a:tr>
              <a:tr h="409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 err="1">
                          <a:effectLst/>
                        </a:rPr>
                        <a:t>필드명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</a:rPr>
                        <a:t>데이터타입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NULL 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KEY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>
                          <a:effectLst/>
                        </a:rPr>
                        <a:t>설명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952812"/>
                  </a:ext>
                </a:extLst>
              </a:tr>
              <a:tr h="4090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</a:rPr>
                        <a:t>1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id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INTEGER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N·N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PRIMARY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ID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49806"/>
                  </a:ext>
                </a:extLst>
              </a:tr>
              <a:tr h="4090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>
                          <a:effectLst/>
                        </a:rPr>
                        <a:t>2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 err="1">
                          <a:effectLst/>
                        </a:rPr>
                        <a:t>owner_id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INTEGER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NULL 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FOREIGN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>
                          <a:effectLst/>
                        </a:rPr>
                        <a:t>소유자 </a:t>
                      </a:r>
                      <a:r>
                        <a:rPr lang="en-US" sz="1500" u="none" strike="noStrike">
                          <a:effectLst/>
                        </a:rPr>
                        <a:t>ID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159694"/>
                  </a:ext>
                </a:extLst>
              </a:tr>
              <a:tr h="4090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>
                          <a:effectLst/>
                        </a:rPr>
                        <a:t>3</a:t>
                      </a:r>
                      <a:endParaRPr lang="en-US" altLang="ko-KR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name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VARCHAR(50)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N·N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>
                          <a:effectLst/>
                        </a:rPr>
                        <a:t>이름</a:t>
                      </a:r>
                      <a:endParaRPr lang="ko-KR" alt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82367"/>
                  </a:ext>
                </a:extLst>
              </a:tr>
              <a:tr h="4090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</a:rPr>
                        <a:t>4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description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</a:rPr>
                        <a:t>VARCHAR(100)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>
                          <a:effectLst/>
                        </a:rPr>
                        <a:t>N·N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</a:rPr>
                        <a:t>　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500" u="none" strike="noStrike" dirty="0">
                          <a:effectLst/>
                        </a:rPr>
                        <a:t>설명</a:t>
                      </a:r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85" marR="10685" marT="1068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0717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EEA4D81-8D3D-4565-A763-ADEA9C9514E3}"/>
              </a:ext>
            </a:extLst>
          </p:cNvPr>
          <p:cNvSpPr txBox="1"/>
          <p:nvPr/>
        </p:nvSpPr>
        <p:spPr>
          <a:xfrm>
            <a:off x="3517621" y="565580"/>
            <a:ext cx="2262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App name : review</a:t>
            </a:r>
            <a:endParaRPr lang="ko-KR" altLang="en-US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917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1791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테이블 명세서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my_basic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162A0FE-CB56-4387-9074-F6EF8E912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18527"/>
              </p:ext>
            </p:extLst>
          </p:nvPr>
        </p:nvGraphicFramePr>
        <p:xfrm>
          <a:off x="551111" y="1759034"/>
          <a:ext cx="11089777" cy="45333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093">
                  <a:extLst>
                    <a:ext uri="{9D8B030D-6E8A-4147-A177-3AD203B41FA5}">
                      <a16:colId xmlns:a16="http://schemas.microsoft.com/office/drawing/2014/main" val="3411412640"/>
                    </a:ext>
                  </a:extLst>
                </a:gridCol>
                <a:gridCol w="2053117">
                  <a:extLst>
                    <a:ext uri="{9D8B030D-6E8A-4147-A177-3AD203B41FA5}">
                      <a16:colId xmlns:a16="http://schemas.microsoft.com/office/drawing/2014/main" val="1623765209"/>
                    </a:ext>
                  </a:extLst>
                </a:gridCol>
                <a:gridCol w="2428420">
                  <a:extLst>
                    <a:ext uri="{9D8B030D-6E8A-4147-A177-3AD203B41FA5}">
                      <a16:colId xmlns:a16="http://schemas.microsoft.com/office/drawing/2014/main" val="1191979079"/>
                    </a:ext>
                  </a:extLst>
                </a:gridCol>
                <a:gridCol w="1147980">
                  <a:extLst>
                    <a:ext uri="{9D8B030D-6E8A-4147-A177-3AD203B41FA5}">
                      <a16:colId xmlns:a16="http://schemas.microsoft.com/office/drawing/2014/main" val="612130632"/>
                    </a:ext>
                  </a:extLst>
                </a:gridCol>
                <a:gridCol w="1545357">
                  <a:extLst>
                    <a:ext uri="{9D8B030D-6E8A-4147-A177-3AD203B41FA5}">
                      <a16:colId xmlns:a16="http://schemas.microsoft.com/office/drawing/2014/main" val="262812717"/>
                    </a:ext>
                  </a:extLst>
                </a:gridCol>
                <a:gridCol w="1964810">
                  <a:extLst>
                    <a:ext uri="{9D8B030D-6E8A-4147-A177-3AD203B41FA5}">
                      <a16:colId xmlns:a16="http://schemas.microsoft.com/office/drawing/2014/main" val="2552089051"/>
                    </a:ext>
                  </a:extLst>
                </a:gridCol>
              </a:tblGrid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 err="1">
                          <a:effectLst/>
                        </a:rPr>
                        <a:t>문서명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 err="1">
                          <a:effectLst/>
                        </a:rPr>
                        <a:t>모도리팀</a:t>
                      </a:r>
                      <a:r>
                        <a:rPr lang="ko-KR" altLang="en-US" sz="1700" u="none" strike="noStrike" dirty="0">
                          <a:effectLst/>
                        </a:rPr>
                        <a:t> </a:t>
                      </a:r>
                      <a:r>
                        <a:rPr lang="en-US" altLang="ko-KR" sz="1700" u="none" strike="noStrike" dirty="0">
                          <a:effectLst/>
                        </a:rPr>
                        <a:t>DB </a:t>
                      </a:r>
                      <a:r>
                        <a:rPr lang="ko-KR" altLang="en-US" sz="1700" u="none" strike="noStrike" dirty="0">
                          <a:effectLst/>
                        </a:rPr>
                        <a:t>명세서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518" marR="137518" marT="68759" marB="68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06003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</a:rPr>
                        <a:t>테이블명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 err="1">
                          <a:effectLst/>
                        </a:rPr>
                        <a:t>my_basic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7518" marR="137518" marT="68759" marB="68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666247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NO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 err="1">
                          <a:effectLst/>
                        </a:rPr>
                        <a:t>필드명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데이터타입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NULL 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KEY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설명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987447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</a:rPr>
                        <a:t>1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id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INTEGER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N·N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PRIMARY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ID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960861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</a:rPr>
                        <a:t>2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title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VARCHAR(50)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N·N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</a:rPr>
                        <a:t>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제목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307270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</a:rPr>
                        <a:t>3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slug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VARCHAR(50)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N·N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　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slug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47693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</a:rPr>
                        <a:t>4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description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VARCHAR(100)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N·N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　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설명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034600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</a:rPr>
                        <a:t>5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image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VARCHAR(100)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N·N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700" u="none" strike="noStrike" dirty="0">
                          <a:effectLst/>
                        </a:rPr>
                        <a:t>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이미지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018048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</a:rPr>
                        <a:t>6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content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TEXT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 dirty="0">
                          <a:effectLst/>
                        </a:rPr>
                        <a:t>N·N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700" u="none" strike="noStrike" dirty="0">
                          <a:effectLst/>
                        </a:rPr>
                        <a:t>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>
                          <a:effectLst/>
                        </a:rPr>
                        <a:t>컨텐츠 내용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464729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</a:rPr>
                        <a:t>7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create_date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DATETIME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N·N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700" u="none" strike="noStrike" dirty="0">
                          <a:effectLst/>
                        </a:rPr>
                        <a:t>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</a:rPr>
                        <a:t>등록날짜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80477"/>
                  </a:ext>
                </a:extLst>
              </a:tr>
              <a:tr h="412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</a:rPr>
                        <a:t>8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modify_date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DATETIME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u="none" strike="noStrike">
                          <a:effectLst/>
                        </a:rPr>
                        <a:t>N·N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700" u="none" strike="noStrike">
                          <a:effectLst/>
                        </a:rPr>
                        <a:t>　</a:t>
                      </a:r>
                      <a:endParaRPr lang="ko-KR" altLang="en-US" sz="1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</a:rPr>
                        <a:t>수정날짜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460" marR="11460" marT="114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003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3B53D3B-9225-4712-927F-5638DCCDE06E}"/>
              </a:ext>
            </a:extLst>
          </p:cNvPr>
          <p:cNvSpPr txBox="1"/>
          <p:nvPr/>
        </p:nvSpPr>
        <p:spPr>
          <a:xfrm>
            <a:off x="3517621" y="565580"/>
            <a:ext cx="2097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App name : basic</a:t>
            </a:r>
            <a:endParaRPr lang="ko-KR" altLang="en-US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314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179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 </a:t>
            </a:r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명세서</a:t>
            </a:r>
          </a:p>
        </p:txBody>
      </p:sp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:a16="http://schemas.microsoft.com/office/drawing/2014/main" id="{FB898EA2-F4BC-4E49-9F11-69190C2FB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243" y="304800"/>
            <a:ext cx="7995682" cy="644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5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179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아키텍쳐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C2B78F-724C-4D1D-8180-A1206AFD8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545" y="1561717"/>
            <a:ext cx="2032654" cy="19137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AB77F88-39AD-4CAD-9414-0213BE0FF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445" y="1446921"/>
            <a:ext cx="2028548" cy="2028548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BDE51041-3E9D-46DA-A8DB-EA5A69281C76}"/>
              </a:ext>
            </a:extLst>
          </p:cNvPr>
          <p:cNvGrpSpPr/>
          <p:nvPr/>
        </p:nvGrpSpPr>
        <p:grpSpPr>
          <a:xfrm>
            <a:off x="6720396" y="3590265"/>
            <a:ext cx="4234648" cy="2862322"/>
            <a:chOff x="7315200" y="3880882"/>
            <a:chExt cx="4243658" cy="3137507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B9502AA6-371C-41C9-A418-3B57F2140FBC}"/>
                </a:ext>
              </a:extLst>
            </p:cNvPr>
            <p:cNvSpPr/>
            <p:nvPr/>
          </p:nvSpPr>
          <p:spPr>
            <a:xfrm>
              <a:off x="7315200" y="3880882"/>
              <a:ext cx="4243658" cy="3137507"/>
            </a:xfrm>
            <a:prstGeom prst="roundRect">
              <a:avLst/>
            </a:prstGeom>
            <a:solidFill>
              <a:srgbClr val="C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282923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B3B0C4-0649-41D9-A4EB-D55B9CF3CC0B}"/>
                </a:ext>
              </a:extLst>
            </p:cNvPr>
            <p:cNvSpPr txBox="1"/>
            <p:nvPr/>
          </p:nvSpPr>
          <p:spPr>
            <a:xfrm>
              <a:off x="7449790" y="3880882"/>
              <a:ext cx="3974477" cy="3137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Python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3.7.3</a:t>
              </a:r>
            </a:p>
            <a:p>
              <a:pPr algn="ctr"/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Python-Django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2.1.7</a:t>
              </a:r>
            </a:p>
            <a:p>
              <a:pPr algn="ctr"/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Django-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disqs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0.5</a:t>
              </a:r>
            </a:p>
            <a:p>
              <a:pPr algn="ctr"/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Django-tagging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0.4.6</a:t>
              </a:r>
            </a:p>
            <a:p>
              <a:pPr algn="ctr"/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mock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3.0.4</a:t>
              </a:r>
            </a:p>
            <a:p>
              <a:pPr algn="ctr"/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Pillow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6.0.0</a:t>
              </a:r>
            </a:p>
            <a:p>
              <a:pPr algn="ctr"/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pip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19.1.1</a:t>
              </a:r>
            </a:p>
            <a:p>
              <a:pPr algn="ctr"/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pytz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2018.9</a:t>
              </a:r>
            </a:p>
            <a:p>
              <a:pPr algn="ctr"/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setuptools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en-US" altLang="ko-KR" dirty="0" err="1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ver</a:t>
              </a:r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40.6.2</a:t>
              </a:r>
            </a:p>
            <a:p>
              <a:pPr algn="ctr"/>
              <a:r>
                <a:rPr lang="en-US" altLang="ko-KR" dirty="0">
                  <a:solidFill>
                    <a:srgbClr val="282923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six 1.12.0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B881EDB-D899-44FF-BC6B-707BD673905F}"/>
              </a:ext>
            </a:extLst>
          </p:cNvPr>
          <p:cNvGrpSpPr/>
          <p:nvPr/>
        </p:nvGrpSpPr>
        <p:grpSpPr>
          <a:xfrm>
            <a:off x="971549" y="3590265"/>
            <a:ext cx="4234648" cy="2862322"/>
            <a:chOff x="7315200" y="3880882"/>
            <a:chExt cx="4243658" cy="3137507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84E4E47-4533-4B37-97AF-A0D0E1ED7DD9}"/>
                </a:ext>
              </a:extLst>
            </p:cNvPr>
            <p:cNvSpPr/>
            <p:nvPr/>
          </p:nvSpPr>
          <p:spPr>
            <a:xfrm>
              <a:off x="7315200" y="3880882"/>
              <a:ext cx="4243658" cy="3137507"/>
            </a:xfrm>
            <a:prstGeom prst="roundRect">
              <a:avLst/>
            </a:prstGeom>
            <a:solidFill>
              <a:srgbClr val="CF7A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282923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D88337-CB01-499F-B869-71B20EFB9523}"/>
                </a:ext>
              </a:extLst>
            </p:cNvPr>
            <p:cNvSpPr txBox="1"/>
            <p:nvPr/>
          </p:nvSpPr>
          <p:spPr>
            <a:xfrm>
              <a:off x="7449790" y="3880882"/>
              <a:ext cx="3974477" cy="404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dirty="0">
                <a:solidFill>
                  <a:srgbClr val="282923"/>
                </a:solidFill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D64AC3-99C0-4D16-9C54-2FBCEA065BF4}"/>
              </a:ext>
            </a:extLst>
          </p:cNvPr>
          <p:cNvSpPr/>
          <p:nvPr/>
        </p:nvSpPr>
        <p:spPr>
          <a:xfrm>
            <a:off x="1145218" y="4169929"/>
            <a:ext cx="39266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OS 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Microsoft Windows 10 Home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프로세서 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Intel(</a:t>
            </a:r>
            <a:r>
              <a:rPr lang="ko-KR" altLang="en-US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 </a:t>
            </a:r>
            <a:r>
              <a:rPr lang="ko-KR" altLang="en-US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Core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(TM) 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i5-7200U CPU @ 2.50GHz,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2712Mhz,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 코어, 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 논리 프로세서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에디터 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PyCharm Community Edition 2019.1.2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489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179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화면설계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A72D3733-E66E-48E5-9A44-285C6AA069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177" y="1384178"/>
            <a:ext cx="4089646" cy="4089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98790E-2631-4B0F-9E52-B22FE0DB3C93}"/>
              </a:ext>
            </a:extLst>
          </p:cNvPr>
          <p:cNvSpPr txBox="1"/>
          <p:nvPr/>
        </p:nvSpPr>
        <p:spPr>
          <a:xfrm>
            <a:off x="3481526" y="5544843"/>
            <a:ext cx="52289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오븐으로 이동</a:t>
            </a:r>
          </a:p>
        </p:txBody>
      </p:sp>
    </p:spTree>
    <p:extLst>
      <p:ext uri="{BB962C8B-B14F-4D97-AF65-F5344CB8AC3E}">
        <p14:creationId xmlns:p14="http://schemas.microsoft.com/office/powerpoint/2010/main" val="7559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 코드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CFF095-8C64-4D4E-9EFE-308A0A690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26" y="4388750"/>
            <a:ext cx="4580017" cy="18823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94ED7D-3D87-4E85-BBF5-FE9353148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232" y="5116523"/>
            <a:ext cx="5631668" cy="213378"/>
          </a:xfrm>
          <a:prstGeom prst="rect">
            <a:avLst/>
          </a:prstGeom>
        </p:spPr>
      </p:pic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73C8ECE1-ED1E-4B2B-838A-7CAF5E119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672" y="1367998"/>
            <a:ext cx="3487883" cy="28196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8580B9-C323-4764-BEB1-FF0A411FB2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26" y="1367999"/>
            <a:ext cx="6210838" cy="28196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379F63-3B3A-4A44-9834-168592A1ED78}"/>
              </a:ext>
            </a:extLst>
          </p:cNvPr>
          <p:cNvSpPr txBox="1"/>
          <p:nvPr/>
        </p:nvSpPr>
        <p:spPr>
          <a:xfrm>
            <a:off x="8945153" y="976329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Settings.py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2A2F2A-93AC-4D01-9902-C5F6C750E959}"/>
              </a:ext>
            </a:extLst>
          </p:cNvPr>
          <p:cNvSpPr txBox="1"/>
          <p:nvPr/>
        </p:nvSpPr>
        <p:spPr>
          <a:xfrm>
            <a:off x="5484043" y="4747189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Modori/urls.py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770B4-45A3-40C2-9ADA-5E76AA3E7B1A}"/>
              </a:ext>
            </a:extLst>
          </p:cNvPr>
          <p:cNvSpPr txBox="1"/>
          <p:nvPr/>
        </p:nvSpPr>
        <p:spPr>
          <a:xfrm>
            <a:off x="5484043" y="5676067"/>
            <a:ext cx="505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사진 업로드 기능사용을 위해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MEDIA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경로를 입력한다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938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개발 코드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C82BFC7-697F-47E7-8282-777BA8127A12}"/>
              </a:ext>
            </a:extLst>
          </p:cNvPr>
          <p:cNvGrpSpPr/>
          <p:nvPr/>
        </p:nvGrpSpPr>
        <p:grpSpPr>
          <a:xfrm>
            <a:off x="1418593" y="1618030"/>
            <a:ext cx="9354813" cy="3438064"/>
            <a:chOff x="2398093" y="1223583"/>
            <a:chExt cx="7564023" cy="277991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A7FA93F-7701-43B4-87F1-00A757F1F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1855" y="1223583"/>
              <a:ext cx="2174961" cy="2779916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0CC39CD-90CD-439F-BFF8-521144232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7940" y="1796984"/>
              <a:ext cx="1494176" cy="2206515"/>
            </a:xfrm>
            <a:prstGeom prst="rect">
              <a:avLst/>
            </a:prstGeom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5C65C8B1-778F-41F7-A071-3C1C3C0166D6}"/>
                </a:ext>
              </a:extLst>
            </p:cNvPr>
            <p:cNvCxnSpPr>
              <a:cxnSpLocks/>
            </p:cNvCxnSpPr>
            <p:nvPr/>
          </p:nvCxnSpPr>
          <p:spPr>
            <a:xfrm>
              <a:off x="6786280" y="3428999"/>
              <a:ext cx="183318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그림 11" descr="스크린샷이(가) 표시된 사진&#10;&#10;자동 생성된 설명">
              <a:extLst>
                <a:ext uri="{FF2B5EF4-FFF2-40B4-BE49-F238E27FC236}">
                  <a16:creationId xmlns:a16="http://schemas.microsoft.com/office/drawing/2014/main" id="{D67E962F-4A2F-477C-A1A6-9DE17DBBA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8093" y="2009622"/>
              <a:ext cx="1732638" cy="1970709"/>
            </a:xfrm>
            <a:prstGeom prst="rect">
              <a:avLst/>
            </a:prstGeom>
          </p:spPr>
        </p:pic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BFE0A6B-AFA8-4BE6-A1EC-7EAFC6EACEFE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3953435" y="3827959"/>
              <a:ext cx="160254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0539735-4B3D-4EC0-82C1-F64E8C7BECAC}"/>
                </a:ext>
              </a:extLst>
            </p:cNvPr>
            <p:cNvSpPr/>
            <p:nvPr/>
          </p:nvSpPr>
          <p:spPr>
            <a:xfrm>
              <a:off x="5555980" y="3267743"/>
              <a:ext cx="1230300" cy="30474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8B2621C-582A-473C-8AD5-6C3D9CEDA138}"/>
                </a:ext>
              </a:extLst>
            </p:cNvPr>
            <p:cNvSpPr/>
            <p:nvPr/>
          </p:nvSpPr>
          <p:spPr>
            <a:xfrm>
              <a:off x="5555980" y="3675586"/>
              <a:ext cx="1230300" cy="30474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C844E3B-2839-4E5B-876E-6BE83A43DD9B}"/>
                </a:ext>
              </a:extLst>
            </p:cNvPr>
            <p:cNvSpPr/>
            <p:nvPr/>
          </p:nvSpPr>
          <p:spPr>
            <a:xfrm>
              <a:off x="5555980" y="2133604"/>
              <a:ext cx="1230300" cy="30474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D34F519-B018-498E-BBFD-8DF4EEA5C7E9}"/>
              </a:ext>
            </a:extLst>
          </p:cNvPr>
          <p:cNvSpPr txBox="1"/>
          <p:nvPr/>
        </p:nvSpPr>
        <p:spPr>
          <a:xfrm>
            <a:off x="8150902" y="5341253"/>
            <a:ext cx="3397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사용할 부트스트랩 코드를 폴더별로 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static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저장 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248F60-F15F-4F91-A8B2-3CEAF0715E12}"/>
              </a:ext>
            </a:extLst>
          </p:cNvPr>
          <p:cNvSpPr txBox="1"/>
          <p:nvPr/>
        </p:nvSpPr>
        <p:spPr>
          <a:xfrm>
            <a:off x="1019098" y="5255528"/>
            <a:ext cx="2941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메인 템플릿과 로그인 템플릿을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저장한다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504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 코드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 descr="스크린샷, 앉아있는이(가) 표시된 사진&#10;&#10;자동 생성된 설명">
            <a:extLst>
              <a:ext uri="{FF2B5EF4-FFF2-40B4-BE49-F238E27FC236}">
                <a16:creationId xmlns:a16="http://schemas.microsoft.com/office/drawing/2014/main" id="{3EF2D4E4-1438-4A28-BD9B-E7F507B81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89" y="1588610"/>
            <a:ext cx="7567316" cy="3680779"/>
          </a:xfrm>
          <a:prstGeom prst="rect">
            <a:avLst/>
          </a:prstGeom>
        </p:spPr>
      </p:pic>
      <p:pic>
        <p:nvPicPr>
          <p:cNvPr id="7" name="그림 6" descr="화면이(가) 표시된 사진&#10;&#10;자동 생성된 설명">
            <a:extLst>
              <a:ext uri="{FF2B5EF4-FFF2-40B4-BE49-F238E27FC236}">
                <a16:creationId xmlns:a16="http://schemas.microsoft.com/office/drawing/2014/main" id="{DFFD8239-FB2C-4360-A305-3B0824B042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6035871" y="5396019"/>
            <a:ext cx="5768840" cy="11888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211FFE-B966-4279-8B30-6EEE4F9490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044" y="1702921"/>
            <a:ext cx="1615580" cy="1600339"/>
          </a:xfrm>
          <a:prstGeom prst="rect">
            <a:avLst/>
          </a:prstGeom>
        </p:spPr>
      </p:pic>
      <p:pic>
        <p:nvPicPr>
          <p:cNvPr id="11" name="그림 10" descr="스크린샷이(가) 표시된 사진&#10;&#10;자동 생성된 설명">
            <a:extLst>
              <a:ext uri="{FF2B5EF4-FFF2-40B4-BE49-F238E27FC236}">
                <a16:creationId xmlns:a16="http://schemas.microsoft.com/office/drawing/2014/main" id="{67B6374D-9A5E-40EE-9E5B-330B43B891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993" y="3554740"/>
            <a:ext cx="3269263" cy="17146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E43089-8ACA-4857-B501-F9CD8CC51880}"/>
              </a:ext>
            </a:extLst>
          </p:cNvPr>
          <p:cNvSpPr txBox="1"/>
          <p:nvPr/>
        </p:nvSpPr>
        <p:spPr>
          <a:xfrm>
            <a:off x="387289" y="1171547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Home.html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02982-CF2B-4FAD-9514-C6360E4FF7EB}"/>
              </a:ext>
            </a:extLst>
          </p:cNvPr>
          <p:cNvSpPr txBox="1"/>
          <p:nvPr/>
        </p:nvSpPr>
        <p:spPr>
          <a:xfrm>
            <a:off x="293262" y="5387845"/>
            <a:ext cx="4359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사용자가 있다면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dropdown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메뉴가 나타난다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93C64-A9C1-40EF-B908-38E7361C9F2C}"/>
              </a:ext>
            </a:extLst>
          </p:cNvPr>
          <p:cNvSpPr txBox="1"/>
          <p:nvPr/>
        </p:nvSpPr>
        <p:spPr>
          <a:xfrm>
            <a:off x="1660831" y="6261676"/>
            <a:ext cx="3861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태그명을 직접 작성하여 경로를 지정한다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48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 코드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7A4BA118-07B0-4EC5-B59D-2678C6C43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92" y="1220583"/>
            <a:ext cx="6477561" cy="50906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C88227F-0161-47E4-9DA9-F2FE743F1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668" y="4238364"/>
            <a:ext cx="6027942" cy="20728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5C583F6-B367-424A-9AE6-B4C503560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898" y="1220583"/>
            <a:ext cx="1230301" cy="24150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2499F9-E815-4911-97ED-0212C426BCBD}"/>
              </a:ext>
            </a:extLst>
          </p:cNvPr>
          <p:cNvSpPr/>
          <p:nvPr/>
        </p:nvSpPr>
        <p:spPr>
          <a:xfrm>
            <a:off x="8370898" y="2492188"/>
            <a:ext cx="1230300" cy="22411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68F3437-81B7-4B16-962B-E9117C78749B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5172635" y="2052918"/>
            <a:ext cx="3198263" cy="5513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8F58966-C40F-481A-9E85-3FCEEA656378}"/>
              </a:ext>
            </a:extLst>
          </p:cNvPr>
          <p:cNvSpPr txBox="1"/>
          <p:nvPr/>
        </p:nvSpPr>
        <p:spPr>
          <a:xfrm>
            <a:off x="4974022" y="805522"/>
            <a:ext cx="18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Blog/models.py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E8E9CE-8615-4103-B2D7-71D08E274518}"/>
              </a:ext>
            </a:extLst>
          </p:cNvPr>
          <p:cNvSpPr txBox="1"/>
          <p:nvPr/>
        </p:nvSpPr>
        <p:spPr>
          <a:xfrm>
            <a:off x="6848253" y="3803245"/>
            <a:ext cx="471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Bookmark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테이블을 추가하고 외래키를 지정한다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6FC11B-C46B-4E52-96E7-55DF22965BB0}"/>
              </a:ext>
            </a:extLst>
          </p:cNvPr>
          <p:cNvSpPr txBox="1"/>
          <p:nvPr/>
        </p:nvSpPr>
        <p:spPr>
          <a:xfrm>
            <a:off x="9686834" y="1966436"/>
            <a:ext cx="22204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 속성을 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사용하기 위해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fields.py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작성한다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E87747-92B6-4B2E-B00C-12EE1F435EBC}"/>
              </a:ext>
            </a:extLst>
          </p:cNvPr>
          <p:cNvSpPr txBox="1"/>
          <p:nvPr/>
        </p:nvSpPr>
        <p:spPr>
          <a:xfrm>
            <a:off x="2160493" y="2658990"/>
            <a:ext cx="438318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00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Tag</a:t>
            </a:r>
            <a:r>
              <a:rPr lang="ko-KR" altLang="en-US" sz="1900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기능 사용을 위해 </a:t>
            </a:r>
            <a:r>
              <a:rPr lang="en-US" altLang="ko-KR" sz="1900" b="1" dirty="0" err="1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Tagfield</a:t>
            </a:r>
            <a:r>
              <a:rPr lang="ko-KR" altLang="en-US" sz="1900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를 추가한다</a:t>
            </a:r>
            <a:r>
              <a:rPr lang="en-US" altLang="ko-KR" sz="1900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sz="1900" b="1" dirty="0">
              <a:solidFill>
                <a:schemeClr val="accent4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D2AD57-6B08-4A48-AE26-0CF2B911217C}"/>
              </a:ext>
            </a:extLst>
          </p:cNvPr>
          <p:cNvSpPr/>
          <p:nvPr/>
        </p:nvSpPr>
        <p:spPr>
          <a:xfrm>
            <a:off x="690135" y="2660506"/>
            <a:ext cx="1436019" cy="2292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91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 코드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1" name="그림 10" descr="벽, 검은색, 테이블, 앉아있는이(가) 표시된 사진&#10;&#10;자동 생성된 설명">
            <a:extLst>
              <a:ext uri="{FF2B5EF4-FFF2-40B4-BE49-F238E27FC236}">
                <a16:creationId xmlns:a16="http://schemas.microsoft.com/office/drawing/2014/main" id="{B80C472E-2BA3-4313-A996-211019FCF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41" y="1840770"/>
            <a:ext cx="6715307" cy="3089818"/>
          </a:xfrm>
          <a:prstGeom prst="rect">
            <a:avLst/>
          </a:prstGeom>
        </p:spPr>
      </p:pic>
      <p:pic>
        <p:nvPicPr>
          <p:cNvPr id="13" name="그림 12" descr="스크린샷이(가) 표시된 사진&#10;&#10;자동 생성된 설명">
            <a:extLst>
              <a:ext uri="{FF2B5EF4-FFF2-40B4-BE49-F238E27FC236}">
                <a16:creationId xmlns:a16="http://schemas.microsoft.com/office/drawing/2014/main" id="{79BFFE9C-B565-4104-AAC2-253D24483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833" y="697800"/>
            <a:ext cx="4119490" cy="56386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5B470E-0193-4A09-B11A-700D6A12C82D}"/>
              </a:ext>
            </a:extLst>
          </p:cNvPr>
          <p:cNvSpPr txBox="1"/>
          <p:nvPr/>
        </p:nvSpPr>
        <p:spPr>
          <a:xfrm>
            <a:off x="469241" y="1471438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Blog/admin.py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911F1A-BE2D-4039-9062-95E2D29C555A}"/>
              </a:ext>
            </a:extLst>
          </p:cNvPr>
          <p:cNvSpPr txBox="1"/>
          <p:nvPr/>
        </p:nvSpPr>
        <p:spPr>
          <a:xfrm>
            <a:off x="797055" y="5063396"/>
            <a:ext cx="6026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외래키로 지정한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Bookmark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admin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사이트에서 작성하기 위해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inline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만들어준다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8FB993-C58C-4BB0-971B-39E0FA1230D5}"/>
              </a:ext>
            </a:extLst>
          </p:cNvPr>
          <p:cNvSpPr/>
          <p:nvPr/>
        </p:nvSpPr>
        <p:spPr>
          <a:xfrm>
            <a:off x="7342094" y="5163671"/>
            <a:ext cx="4380665" cy="12550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09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개발 코드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A22538AC-405D-4BA6-85F2-705FCB513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148" y="1166319"/>
            <a:ext cx="9470101" cy="52862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D27D51-04AC-4D91-8BD0-67D4C7D26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696" y="3192343"/>
            <a:ext cx="2797553" cy="8053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8B2E9-3B39-462C-8B19-DB52FC58AA41}"/>
              </a:ext>
            </a:extLst>
          </p:cNvPr>
          <p:cNvSpPr txBox="1"/>
          <p:nvPr/>
        </p:nvSpPr>
        <p:spPr>
          <a:xfrm>
            <a:off x="8558989" y="805522"/>
            <a:ext cx="258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Blog/../recipe_all.html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78323-9C4E-41F1-A557-488DE37577D9}"/>
              </a:ext>
            </a:extLst>
          </p:cNvPr>
          <p:cNvSpPr txBox="1"/>
          <p:nvPr/>
        </p:nvSpPr>
        <p:spPr>
          <a:xfrm>
            <a:off x="3373215" y="2550280"/>
            <a:ext cx="5875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자녀인 </a:t>
            </a:r>
            <a:r>
              <a:rPr lang="en-US" altLang="ko-KR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bookmark </a:t>
            </a:r>
            <a:r>
              <a:rPr lang="ko-KR" altLang="en-US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속성을 가져오기 위해</a:t>
            </a:r>
            <a:r>
              <a:rPr lang="en-US" altLang="ko-KR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b="1" dirty="0" err="1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set.all</a:t>
            </a:r>
            <a:r>
              <a:rPr lang="en-US" altLang="ko-KR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을 사용한다</a:t>
            </a:r>
            <a:r>
              <a:rPr lang="en-US" altLang="ko-KR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b="1" dirty="0">
              <a:solidFill>
                <a:schemeClr val="accent4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B90DD-8B7D-4360-8005-23F61724A8F2}"/>
              </a:ext>
            </a:extLst>
          </p:cNvPr>
          <p:cNvSpPr txBox="1"/>
          <p:nvPr/>
        </p:nvSpPr>
        <p:spPr>
          <a:xfrm>
            <a:off x="4124146" y="362478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다음 내용이 있다면 버튼을 생성한다</a:t>
            </a:r>
            <a:r>
              <a:rPr lang="en-US" altLang="ko-KR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b="1" dirty="0">
              <a:solidFill>
                <a:schemeClr val="accent4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686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개발 코드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683DCF7A-1797-417A-958C-7E4E906C8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715" y="877498"/>
            <a:ext cx="7788315" cy="58069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7F4FA16-62D3-4FE7-BDCC-9EDB76820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89" y="1786747"/>
            <a:ext cx="1629411" cy="384403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DF46B8D-F94C-4477-9068-4E964F3346BF}"/>
              </a:ext>
            </a:extLst>
          </p:cNvPr>
          <p:cNvSpPr/>
          <p:nvPr/>
        </p:nvSpPr>
        <p:spPr>
          <a:xfrm>
            <a:off x="604988" y="3624086"/>
            <a:ext cx="1629411" cy="3137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9E693DE-6895-482B-89CB-76C17B51FEC1}"/>
              </a:ext>
            </a:extLst>
          </p:cNvPr>
          <p:cNvCxnSpPr>
            <a:stCxn id="7" idx="3"/>
          </p:cNvCxnSpPr>
          <p:nvPr/>
        </p:nvCxnSpPr>
        <p:spPr>
          <a:xfrm>
            <a:off x="2234399" y="3780969"/>
            <a:ext cx="885319" cy="656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0207AE-C346-46A3-B03C-E30F4D5AD340}"/>
              </a:ext>
            </a:extLst>
          </p:cNvPr>
          <p:cNvSpPr txBox="1"/>
          <p:nvPr/>
        </p:nvSpPr>
        <p:spPr>
          <a:xfrm>
            <a:off x="8467465" y="484954"/>
            <a:ext cx="2107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review/models.py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97DE5C-A245-4574-99B6-FA2A8711E1C7}"/>
              </a:ext>
            </a:extLst>
          </p:cNvPr>
          <p:cNvSpPr txBox="1"/>
          <p:nvPr/>
        </p:nvSpPr>
        <p:spPr>
          <a:xfrm>
            <a:off x="5118840" y="3624086"/>
            <a:ext cx="4248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Photo</a:t>
            </a:r>
            <a:r>
              <a:rPr lang="ko-KR" altLang="en-US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테이블을 추가하고 외래키로 지정한다</a:t>
            </a:r>
            <a:r>
              <a:rPr lang="en-US" altLang="ko-KR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b="1" dirty="0">
              <a:solidFill>
                <a:schemeClr val="accent4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DB612-85A8-441A-95C7-62E7B00C26D2}"/>
              </a:ext>
            </a:extLst>
          </p:cNvPr>
          <p:cNvSpPr txBox="1"/>
          <p:nvPr/>
        </p:nvSpPr>
        <p:spPr>
          <a:xfrm>
            <a:off x="289726" y="5761111"/>
            <a:ext cx="22204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 속성을 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사용하기 위해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fields.py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작성한다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16E87-6C58-4DDE-BBC9-E3915F1F707B}"/>
              </a:ext>
            </a:extLst>
          </p:cNvPr>
          <p:cNvSpPr txBox="1"/>
          <p:nvPr/>
        </p:nvSpPr>
        <p:spPr>
          <a:xfrm>
            <a:off x="4163977" y="1798492"/>
            <a:ext cx="3475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앨범을 만든 사용자 정보를 저장한다</a:t>
            </a:r>
            <a:r>
              <a:rPr lang="en-US" altLang="ko-KR" b="1" dirty="0">
                <a:solidFill>
                  <a:schemeClr val="accent4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b="1" dirty="0">
              <a:solidFill>
                <a:schemeClr val="accent4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82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개발 코드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pic>
        <p:nvPicPr>
          <p:cNvPr id="3" name="그림 2" descr="실내, 벽이(가) 표시된 사진&#10;&#10;자동 생성된 설명">
            <a:extLst>
              <a:ext uri="{FF2B5EF4-FFF2-40B4-BE49-F238E27FC236}">
                <a16:creationId xmlns:a16="http://schemas.microsoft.com/office/drawing/2014/main" id="{7F80381A-0EBE-4CF3-A195-8C7B4B65B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048" y="1786747"/>
            <a:ext cx="7193903" cy="32845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3E18D5A-8610-4B2C-B651-3818CA84B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89" y="1786747"/>
            <a:ext cx="1629411" cy="384403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4BA7C4F-937F-4C8E-9F73-C1DDF7B6DB83}"/>
              </a:ext>
            </a:extLst>
          </p:cNvPr>
          <p:cNvSpPr/>
          <p:nvPr/>
        </p:nvSpPr>
        <p:spPr>
          <a:xfrm>
            <a:off x="604989" y="3899647"/>
            <a:ext cx="1629411" cy="3137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013A1-13DA-4F7C-A271-CC22849BE320}"/>
              </a:ext>
            </a:extLst>
          </p:cNvPr>
          <p:cNvSpPr txBox="1"/>
          <p:nvPr/>
        </p:nvSpPr>
        <p:spPr>
          <a:xfrm>
            <a:off x="6591781" y="1417415"/>
            <a:ext cx="3101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review/../album_form.html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0ED9D-D14C-44CF-9166-B27BBFA16B4F}"/>
              </a:ext>
            </a:extLst>
          </p:cNvPr>
          <p:cNvSpPr txBox="1"/>
          <p:nvPr/>
        </p:nvSpPr>
        <p:spPr>
          <a:xfrm>
            <a:off x="2499048" y="5261447"/>
            <a:ext cx="5159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forms.py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작성하여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form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형식의 템플릿을 작성한다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477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실제 개발 화면</a:t>
            </a:r>
            <a:endParaRPr lang="en-US" altLang="ko-KR" sz="3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4FE755-F892-4BC2-89C4-7B60E6F1E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945" y="1622946"/>
            <a:ext cx="3612110" cy="3612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C8DEDC-261F-49ED-B398-0ABC8A8E1B87}"/>
              </a:ext>
            </a:extLst>
          </p:cNvPr>
          <p:cNvSpPr txBox="1"/>
          <p:nvPr/>
        </p:nvSpPr>
        <p:spPr>
          <a:xfrm>
            <a:off x="3481526" y="5544843"/>
            <a:ext cx="52289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실제 웹페이지 이동</a:t>
            </a:r>
          </a:p>
        </p:txBody>
      </p:sp>
    </p:spTree>
    <p:extLst>
      <p:ext uri="{BB962C8B-B14F-4D97-AF65-F5344CB8AC3E}">
        <p14:creationId xmlns:p14="http://schemas.microsoft.com/office/powerpoint/2010/main" val="241779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54CB1F-E928-49BC-844E-AC90A160A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0" y="304800"/>
            <a:ext cx="733119" cy="733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106840-996F-4183-A6FD-C42A15223866}"/>
              </a:ext>
            </a:extLst>
          </p:cNvPr>
          <p:cNvSpPr txBox="1"/>
          <p:nvPr/>
        </p:nvSpPr>
        <p:spPr>
          <a:xfrm>
            <a:off x="1145218" y="405413"/>
            <a:ext cx="389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추후 예정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AEB290-DB82-465A-B71A-0A89E9D99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82" y="1647824"/>
            <a:ext cx="4673693" cy="4673693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59A936C-CB83-40E5-8FBC-D4AC41DB2ACF}"/>
              </a:ext>
            </a:extLst>
          </p:cNvPr>
          <p:cNvSpPr/>
          <p:nvPr/>
        </p:nvSpPr>
        <p:spPr>
          <a:xfrm>
            <a:off x="6294268" y="2299317"/>
            <a:ext cx="5113538" cy="816746"/>
          </a:xfrm>
          <a:prstGeom prst="roundRect">
            <a:avLst/>
          </a:prstGeom>
          <a:solidFill>
            <a:srgbClr val="DDB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latin typeface="DX영화자막 M" panose="02020600000000000000" pitchFamily="18" charset="-127"/>
                <a:ea typeface="DX영화자막 M" panose="02020600000000000000" pitchFamily="18" charset="-127"/>
              </a:rPr>
              <a:t>비밀번호 변경 수행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B9FA740-574F-438D-95D7-386B6C6F64BB}"/>
              </a:ext>
            </a:extLst>
          </p:cNvPr>
          <p:cNvSpPr/>
          <p:nvPr/>
        </p:nvSpPr>
        <p:spPr>
          <a:xfrm>
            <a:off x="6294268" y="3429000"/>
            <a:ext cx="5113538" cy="816746"/>
          </a:xfrm>
          <a:prstGeom prst="roundRect">
            <a:avLst/>
          </a:prstGeom>
          <a:solidFill>
            <a:srgbClr val="E7A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200" dirty="0" err="1">
                <a:latin typeface="DX영화자막 M" panose="02020600000000000000" pitchFamily="18" charset="-127"/>
                <a:ea typeface="DX영화자막 M" panose="02020600000000000000" pitchFamily="18" charset="-127"/>
              </a:rPr>
              <a:t>Photo_change</a:t>
            </a:r>
            <a:r>
              <a:rPr lang="en-US" altLang="ko-KR" sz="2200" dirty="0">
                <a:latin typeface="DX영화자막 M" panose="02020600000000000000" pitchFamily="18" charset="-127"/>
                <a:ea typeface="DX영화자막 M" panose="02020600000000000000" pitchFamily="18" charset="-127"/>
              </a:rPr>
              <a:t> </a:t>
            </a:r>
            <a:r>
              <a:rPr lang="ko-KR" altLang="en-US" sz="2200" dirty="0">
                <a:latin typeface="DX영화자막 M" panose="02020600000000000000" pitchFamily="18" charset="-127"/>
                <a:ea typeface="DX영화자막 M" panose="02020600000000000000" pitchFamily="18" charset="-127"/>
              </a:rPr>
              <a:t>수정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6ED109E-D85F-414A-9BE8-20E8CE5EF7A9}"/>
              </a:ext>
            </a:extLst>
          </p:cNvPr>
          <p:cNvSpPr/>
          <p:nvPr/>
        </p:nvSpPr>
        <p:spPr>
          <a:xfrm>
            <a:off x="6294268" y="4682231"/>
            <a:ext cx="5113538" cy="816746"/>
          </a:xfrm>
          <a:prstGeom prst="roundRect">
            <a:avLst/>
          </a:prstGeom>
          <a:solidFill>
            <a:srgbClr val="99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latin typeface="DX영화자막 M" panose="02020600000000000000" pitchFamily="18" charset="-127"/>
                <a:ea typeface="DX영화자막 M" panose="02020600000000000000" pitchFamily="18" charset="-127"/>
              </a:rPr>
              <a:t>회원가입 수행</a:t>
            </a:r>
          </a:p>
        </p:txBody>
      </p:sp>
    </p:spTree>
    <p:extLst>
      <p:ext uri="{BB962C8B-B14F-4D97-AF65-F5344CB8AC3E}">
        <p14:creationId xmlns:p14="http://schemas.microsoft.com/office/powerpoint/2010/main" val="364749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66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BB495F-F25E-418A-A347-B7BBE3CCC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620" y="782434"/>
            <a:ext cx="3382759" cy="33827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755BEB-D3BC-45FB-979E-220ECA3BF559}"/>
              </a:ext>
            </a:extLst>
          </p:cNvPr>
          <p:cNvSpPr txBox="1"/>
          <p:nvPr/>
        </p:nvSpPr>
        <p:spPr>
          <a:xfrm>
            <a:off x="3600449" y="4791075"/>
            <a:ext cx="49911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dirty="0">
                <a:latin typeface="나눔바른고딕" panose="020B0603020101020101" pitchFamily="50" charset="-127"/>
              </a:rPr>
              <a:t>😊</a:t>
            </a:r>
            <a:r>
              <a:rPr lang="ko-KR" altLang="en-US" sz="3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 사 합 </a:t>
            </a:r>
            <a:r>
              <a:rPr lang="ko-KR" altLang="en-US" sz="35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니</a:t>
            </a:r>
            <a:r>
              <a:rPr lang="ko-KR" altLang="en-US" sz="3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 </a:t>
            </a:r>
            <a:r>
              <a:rPr lang="zh-CN" altLang="en-US" sz="3500" dirty="0">
                <a:latin typeface="나눔바른고딕" panose="020B0603020101020101" pitchFamily="50" charset="-127"/>
              </a:rPr>
              <a:t>😊</a:t>
            </a:r>
            <a:endParaRPr lang="ko-KR" altLang="en-US" sz="3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839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990</Words>
  <Application>Microsoft Office PowerPoint</Application>
  <PresentationFormat>와이드스크린</PresentationFormat>
  <Paragraphs>428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DX영화자막 M</vt:lpstr>
      <vt:lpstr>Apple SD Gothic Neo</vt:lpstr>
      <vt:lpstr>나눔바른고딕</vt:lpstr>
      <vt:lpstr>나눔스퀘어_ac ExtraBold</vt:lpstr>
      <vt:lpstr>맑은 고딕</vt:lpstr>
      <vt:lpstr>Arial</vt:lpstr>
      <vt:lpstr>나눔스퀘어_ac Bold</vt:lpstr>
      <vt:lpstr>나눔스퀘어_ac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pak woojin</dc:creator>
  <cp:lastModifiedBy>pak woojin</cp:lastModifiedBy>
  <cp:revision>172</cp:revision>
  <dcterms:created xsi:type="dcterms:W3CDTF">2019-04-27T06:44:35Z</dcterms:created>
  <dcterms:modified xsi:type="dcterms:W3CDTF">2019-06-09T11:21:36Z</dcterms:modified>
</cp:coreProperties>
</file>